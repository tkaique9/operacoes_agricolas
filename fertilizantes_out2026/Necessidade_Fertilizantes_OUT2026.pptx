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8328CE2-64CB-D934-3852-B41543562D12}">
          <p14:sldIdLst>
            <p14:sldId id="256"/>
            <p14:sldId id="257"/>
          </p14:sldIdLst>
        </p14:section>
        <p14:section name="Demanda" id="{4DF73495-29F8-E5D8-BCC3-5BB149F7E64A}">
          <p14:sldIdLst>
            <p14:sldId id="258"/>
            <p14:sldId id="259"/>
            <p14:sldId id="260"/>
            <p14:sldId id="261"/>
            <p14:sldId id="262"/>
          </p14:sldIdLst>
        </p14:section>
        <p14:section name="Abastecimento" id="{169B955F-E208-F284-85B8-E425205D08BC}">
          <p14:sldIdLst>
            <p14:sldId id="263"/>
            <p14:sldId id="264"/>
            <p14:sldId id="265"/>
          </p14:sldIdLst>
        </p14:section>
        <p14:section name="Finanças e cenários" id="{7F8CF2A2-75DF-B78F-D069-0EE5A88908DF}">
          <p14:sldIdLst>
            <p14:sldId id="266"/>
            <p14:sldId id="267"/>
          </p14:sldIdLst>
        </p14:section>
        <p14:section name="Riscos e ação" id="{1F9F0E9D-064C-B614-1F90-AD3FEF5D8235}">
          <p14:sldIdLst>
            <p14:sldId id="268"/>
            <p14:sldId id="269"/>
            <p14:sldId id="270"/>
          </p14:sldIdLst>
        </p14:section>
        <p14:section name="Decisão" id="{447AFE88-7AFF-8911-9C40-F90559B668CC}">
          <p14:sldIdLst>
            <p14:sldId id="271"/>
          </p14:sldIdLst>
        </p14:section>
        <p14:section name="Anexo" id="{30FBA89D-56A9-F21F-4E88-FCDEAFC083D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apoio da cascata (oculto)</c:v>
                </c:pt>
              </c:strCache>
            </c:strRef>
          </c:tx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Área de tratos culturais</c:v>
                </c:pt>
                <c:pt idx="1">
                  <c:v>Já adubado</c:v>
                </c:pt>
                <c:pt idx="2">
                  <c:v>Cana bisada</c:v>
                </c:pt>
                <c:pt idx="3">
                  <c:v>A adubar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14936.199999999999</c:v>
                </c:pt>
                <c:pt idx="2">
                  <c:v>11859.269999999999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8-49AF-B005-6B3008BA3D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Área (ha)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3B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C3B8-49AF-B005-6B3008BA3DE1}"/>
              </c:ext>
            </c:extLst>
          </c:dPt>
          <c:dPt>
            <c:idx val="1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B8-49AF-B005-6B3008BA3DE1}"/>
              </c:ext>
            </c:extLst>
          </c:dPt>
          <c:dPt>
            <c:idx val="2"/>
            <c:invertIfNegative val="0"/>
            <c:bubble3D val="0"/>
            <c:spPr>
              <a:solidFill>
                <a:srgbClr val="A9B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C3B8-49AF-B005-6B3008BA3DE1}"/>
              </c:ext>
            </c:extLst>
          </c:dPt>
          <c:dPt>
            <c:idx val="3"/>
            <c:invertIfNegative val="0"/>
            <c:bubble3D val="0"/>
            <c:spPr>
              <a:solidFill>
                <a:srgbClr val="D9A2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B8-49AF-B005-6B3008BA3DE1}"/>
              </c:ext>
            </c:extLst>
          </c:dPt>
          <c:dLbls>
            <c:dLbl>
              <c:idx val="1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3B2C"/>
                      </a:solidFill>
                      <a:latin typeface="+mn-lt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3B8-49AF-B005-6B3008BA3DE1}"/>
                </c:ext>
              </c:extLst>
            </c:dLbl>
            <c:dLbl>
              <c:idx val="2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3B2C"/>
                      </a:solidFill>
                      <a:latin typeface="+mn-lt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C3B8-49AF-B005-6B3008BA3DE1}"/>
                </c:ext>
              </c:extLst>
            </c:dLbl>
            <c:dLbl>
              <c:idx val="3"/>
              <c:numFmt formatCode="#,##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3B2C"/>
                      </a:solidFill>
                      <a:latin typeface="+mn-lt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3B8-49AF-B005-6B3008BA3DE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Área de tratos culturais</c:v>
                </c:pt>
                <c:pt idx="1">
                  <c:v>Já adubado</c:v>
                </c:pt>
                <c:pt idx="2">
                  <c:v>Cana bisada</c:v>
                </c:pt>
                <c:pt idx="3">
                  <c:v>A adubar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29926</c:v>
                </c:pt>
                <c:pt idx="1">
                  <c:v>14989.800000000001</c:v>
                </c:pt>
                <c:pt idx="2">
                  <c:v>3076.93</c:v>
                </c:pt>
                <c:pt idx="3">
                  <c:v>11859.269999999999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B8-49AF-B005-6B3008BA3D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Cenário A · localizada 1.000 ha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Lbls>
            <c:numFmt formatCode="#,##0&quot; t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16-00-20</c:v>
                </c:pt>
                <c:pt idx="1">
                  <c:v>46-00-00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5421.835</c:v>
                </c:pt>
                <c:pt idx="1">
                  <c:v>113.794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EE-4AA0-8EC3-2F2CD0C215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Cenário B · localizada 450 ha</c:v>
                </c:pt>
              </c:strCache>
            </c:strRef>
          </c:tx>
          <c:spPr>
            <a:solidFill>
              <a:srgbClr val="8DBE3F"/>
            </a:solidFill>
            <a:effectLst/>
          </c:spPr>
          <c:invertIfNegative val="0"/>
          <c:dLbls>
            <c:numFmt formatCode="#,##0&quot; t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16-00-20</c:v>
                </c:pt>
                <c:pt idx="1">
                  <c:v>46-00-00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5706.32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EE-4AA0-8EC3-2F2CD0C215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Vinhaça localizada Cargill</c:v>
                </c:pt>
              </c:strCache>
            </c:strRef>
          </c:tx>
          <c:spPr>
            <a:solidFill>
              <a:srgbClr val="A8825A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Cenário A · localizada 1.000 ha</c:v>
                </c:pt>
                <c:pt idx="1">
                  <c:v>Cenário B · localizada 450 ha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446.63</c:v>
                </c:pt>
                <c:pt idx="1">
                  <c:v>446.63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6D-4F6B-914B-AAB45548A8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Vinhaça localizada CRV (46-00-00)</c:v>
                </c:pt>
              </c:strCache>
            </c:strRef>
          </c:tx>
          <c:spPr>
            <a:solidFill>
              <a:srgbClr val="7A5230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Cenário A · localizada 1.000 ha</c:v>
                </c:pt>
                <c:pt idx="1">
                  <c:v>Cenário B · localizada 450 ha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568.97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6D-4F6B-914B-AAB45548A8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Fertilizante mineral CRV (16-00-20)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Cenário A · localizada 1.000 ha</c:v>
                </c:pt>
                <c:pt idx="1">
                  <c:v>Cenário B · localizada 450 ha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10843.67</c:v>
                </c:pt>
                <c:pt idx="1">
                  <c:v>11412.64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86D-4F6B-914B-AAB45548A8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Lbls>
            <c:numFmt formatCode="#,##0&quot; kg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16-00-20 · 500 kg/ha</c:v>
                </c:pt>
                <c:pt idx="1">
                  <c:v>46-00-00 · 200 kg/ha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F4-4BB9-B897-3A52B04AAB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K₂O</c:v>
                </c:pt>
              </c:strCache>
            </c:strRef>
          </c:tx>
          <c:spPr>
            <a:solidFill>
              <a:srgbClr val="D9A21B"/>
            </a:solidFill>
            <a:effectLst/>
          </c:spPr>
          <c:invertIfNegative val="0"/>
          <c:dLbls>
            <c:numFmt formatCode="#,##0&quot; kg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16-00-20 · 500 kg/ha</c:v>
                </c:pt>
                <c:pt idx="1">
                  <c:v>46-00-00 · 200 kg/ha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F4-4BB9-B897-3A52B04AAB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Necessidade acumulada (premissa)</c:v>
                </c:pt>
              </c:strCache>
            </c:strRef>
          </c:tx>
          <c:spPr>
            <a:ln w="44450" cap="flat">
              <a:solidFill>
                <a:srgbClr val="1F6B3A"/>
              </a:solidFill>
              <a:prstDash val="solid"/>
              <a:round/>
            </a:ln>
            <a:effectLst/>
          </c:spPr>
          <c:marker>
            <c:symbol val="none"/>
          </c:marker>
          <c:dLbls>
            <c:dLbl>
              <c:idx val="12"/>
              <c:numFmt formatCode="#,##0&quot; t&quot;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1E2B25"/>
                      </a:solidFill>
                      <a:latin typeface="+mn-lt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F7-4313-BEFC-0A47B9E0621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Sheet1!$A$2:$A$14</c:f>
              <c:strCache>
                <c:ptCount val="13"/>
                <c:pt idx="0">
                  <c:v>16/10</c:v>
                </c:pt>
                <c:pt idx="1">
                  <c:v>21/10</c:v>
                </c:pt>
                <c:pt idx="2">
                  <c:v>26/10</c:v>
                </c:pt>
                <c:pt idx="3">
                  <c:v>31/10</c:v>
                </c:pt>
                <c:pt idx="4">
                  <c:v>05/11</c:v>
                </c:pt>
                <c:pt idx="5">
                  <c:v>10/11</c:v>
                </c:pt>
                <c:pt idx="6">
                  <c:v>15/11</c:v>
                </c:pt>
                <c:pt idx="7">
                  <c:v>20/11</c:v>
                </c:pt>
                <c:pt idx="8">
                  <c:v>25/11</c:v>
                </c:pt>
                <c:pt idx="9">
                  <c:v>30/11</c:v>
                </c:pt>
                <c:pt idx="10">
                  <c:v>05/12</c:v>
                </c:pt>
                <c:pt idx="11">
                  <c:v>10/12</c:v>
                </c:pt>
                <c:pt idx="12">
                  <c:v>15/12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451.81958333333336</c:v>
                </c:pt>
                <c:pt idx="2">
                  <c:v>903.63916666666671</c:v>
                </c:pt>
                <c:pt idx="3">
                  <c:v>1355.45875</c:v>
                </c:pt>
                <c:pt idx="4">
                  <c:v>1807.2783333333334</c:v>
                </c:pt>
                <c:pt idx="5">
                  <c:v>2259.0979166666666</c:v>
                </c:pt>
                <c:pt idx="6">
                  <c:v>2710.9175</c:v>
                </c:pt>
                <c:pt idx="7">
                  <c:v>3162.7370833333334</c:v>
                </c:pt>
                <c:pt idx="8">
                  <c:v>3614.5566666666668</c:v>
                </c:pt>
                <c:pt idx="9">
                  <c:v>4066.3762500000003</c:v>
                </c:pt>
                <c:pt idx="10">
                  <c:v>4518.1958333333332</c:v>
                </c:pt>
                <c:pt idx="11">
                  <c:v>4970.0154166666671</c:v>
                </c:pt>
                <c:pt idx="12">
                  <c:v>5421.835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F7-4313-BEFC-0A47B9E062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Estoque em 16/10 (1.132 t)</c:v>
                </c:pt>
              </c:strCache>
            </c:strRef>
          </c:tx>
          <c:spPr>
            <a:ln w="28575" cap="flat">
              <a:solidFill>
                <a:srgbClr val="D9A21B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16/10</c:v>
                </c:pt>
                <c:pt idx="1">
                  <c:v>21/10</c:v>
                </c:pt>
                <c:pt idx="2">
                  <c:v>26/10</c:v>
                </c:pt>
                <c:pt idx="3">
                  <c:v>31/10</c:v>
                </c:pt>
                <c:pt idx="4">
                  <c:v>05/11</c:v>
                </c:pt>
                <c:pt idx="5">
                  <c:v>10/11</c:v>
                </c:pt>
                <c:pt idx="6">
                  <c:v>15/11</c:v>
                </c:pt>
                <c:pt idx="7">
                  <c:v>20/11</c:v>
                </c:pt>
                <c:pt idx="8">
                  <c:v>25/11</c:v>
                </c:pt>
                <c:pt idx="9">
                  <c:v>30/11</c:v>
                </c:pt>
                <c:pt idx="10">
                  <c:v>05/12</c:v>
                </c:pt>
                <c:pt idx="11">
                  <c:v>10/12</c:v>
                </c:pt>
                <c:pt idx="12">
                  <c:v>15/12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1132</c:v>
                </c:pt>
                <c:pt idx="1">
                  <c:v>1132</c:v>
                </c:pt>
                <c:pt idx="2">
                  <c:v>1132</c:v>
                </c:pt>
                <c:pt idx="3">
                  <c:v>1132</c:v>
                </c:pt>
                <c:pt idx="4">
                  <c:v>1132</c:v>
                </c:pt>
                <c:pt idx="5">
                  <c:v>1132</c:v>
                </c:pt>
                <c:pt idx="6">
                  <c:v>1132</c:v>
                </c:pt>
                <c:pt idx="7">
                  <c:v>1132</c:v>
                </c:pt>
                <c:pt idx="8">
                  <c:v>1132</c:v>
                </c:pt>
                <c:pt idx="9">
                  <c:v>1132</c:v>
                </c:pt>
                <c:pt idx="10">
                  <c:v>1132</c:v>
                </c:pt>
                <c:pt idx="11">
                  <c:v>1132</c:v>
                </c:pt>
                <c:pt idx="12">
                  <c:v>1132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F7-4313-BEFC-0A47B9E062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Estoque + comprado a receber (3.162 t)</c:v>
                </c:pt>
              </c:strCache>
            </c:strRef>
          </c:tx>
          <c:spPr>
            <a:ln w="28575" cap="flat">
              <a:solidFill>
                <a:srgbClr val="8DBE3F"/>
              </a:solidFill>
              <a:prstDash val="dash"/>
              <a:round/>
            </a:ln>
            <a:effectLst/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16/10</c:v>
                </c:pt>
                <c:pt idx="1">
                  <c:v>21/10</c:v>
                </c:pt>
                <c:pt idx="2">
                  <c:v>26/10</c:v>
                </c:pt>
                <c:pt idx="3">
                  <c:v>31/10</c:v>
                </c:pt>
                <c:pt idx="4">
                  <c:v>05/11</c:v>
                </c:pt>
                <c:pt idx="5">
                  <c:v>10/11</c:v>
                </c:pt>
                <c:pt idx="6">
                  <c:v>15/11</c:v>
                </c:pt>
                <c:pt idx="7">
                  <c:v>20/11</c:v>
                </c:pt>
                <c:pt idx="8">
                  <c:v>25/11</c:v>
                </c:pt>
                <c:pt idx="9">
                  <c:v>30/11</c:v>
                </c:pt>
                <c:pt idx="10">
                  <c:v>05/12</c:v>
                </c:pt>
                <c:pt idx="11">
                  <c:v>10/12</c:v>
                </c:pt>
                <c:pt idx="12">
                  <c:v>15/12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3162</c:v>
                </c:pt>
                <c:pt idx="1">
                  <c:v>3162</c:v>
                </c:pt>
                <c:pt idx="2">
                  <c:v>3162</c:v>
                </c:pt>
                <c:pt idx="3">
                  <c:v>3162</c:v>
                </c:pt>
                <c:pt idx="4">
                  <c:v>3162</c:v>
                </c:pt>
                <c:pt idx="5">
                  <c:v>3162</c:v>
                </c:pt>
                <c:pt idx="6">
                  <c:v>3162</c:v>
                </c:pt>
                <c:pt idx="7">
                  <c:v>3162</c:v>
                </c:pt>
                <c:pt idx="8">
                  <c:v>3162</c:v>
                </c:pt>
                <c:pt idx="9">
                  <c:v>3162</c:v>
                </c:pt>
                <c:pt idx="10">
                  <c:v>3162</c:v>
                </c:pt>
                <c:pt idx="11">
                  <c:v>3162</c:v>
                </c:pt>
                <c:pt idx="12">
                  <c:v>3162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F7-4313-BEFC-0A47B9E062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l"/>
        <c:majorGridlines>
          <c:spPr>
            <a:ln w="9525" cap="flat">
              <a:solidFill>
                <a:srgbClr val="DCE4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36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341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Estoque (t)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18-4AC0-8D2D-E7A42CB4FFAC}"/>
              </c:ext>
            </c:extLst>
          </c:dPt>
          <c:dPt>
            <c:idx val="1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18-4AC0-8D2D-E7A42CB4FFA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D18-4AC0-8D2D-E7A42CB4FFAC}"/>
              </c:ext>
            </c:extLst>
          </c:dPt>
          <c:dPt>
            <c:idx val="3"/>
            <c:invertIfNegative val="0"/>
            <c:bubble3D val="0"/>
            <c:spPr>
              <a:solidFill>
                <a:srgbClr val="A9B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D18-4AC0-8D2D-E7A42CB4FFAC}"/>
              </c:ext>
            </c:extLst>
          </c:dPt>
          <c:dPt>
            <c:idx val="4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D18-4AC0-8D2D-E7A42CB4FFA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5D18-4AC0-8D2D-E7A42CB4FFAC}"/>
              </c:ext>
            </c:extLst>
          </c:dPt>
          <c:dPt>
            <c:idx val="6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D18-4AC0-8D2D-E7A42CB4FFAC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5D18-4AC0-8D2D-E7A42CB4FFAC}"/>
              </c:ext>
            </c:extLst>
          </c:dPt>
          <c:dPt>
            <c:idx val="8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D18-4AC0-8D2D-E7A42CB4FFAC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5D18-4AC0-8D2D-E7A42CB4FFAC}"/>
              </c:ext>
            </c:extLst>
          </c:dPt>
          <c:dLbls>
            <c:numFmt formatCode="#,##0.0&quot; t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16-00-20</c:v>
                </c:pt>
                <c:pt idx="1">
                  <c:v>06-26-25</c:v>
                </c:pt>
                <c:pt idx="2">
                  <c:v>46-00-00</c:v>
                </c:pt>
                <c:pt idx="3">
                  <c:v>Oxyfertil</c:v>
                </c:pt>
                <c:pt idx="4">
                  <c:v>06-30-25</c:v>
                </c:pt>
                <c:pt idx="5">
                  <c:v>21-00-00</c:v>
                </c:pt>
                <c:pt idx="6">
                  <c:v>06-27-24</c:v>
                </c:pt>
                <c:pt idx="7">
                  <c:v>13-00-34</c:v>
                </c:pt>
                <c:pt idx="8">
                  <c:v>05-25-25</c:v>
                </c:pt>
                <c:pt idx="9">
                  <c:v>25-00-00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1132</c:v>
                </c:pt>
                <c:pt idx="1">
                  <c:v>689.5</c:v>
                </c:pt>
                <c:pt idx="2">
                  <c:v>356.97</c:v>
                </c:pt>
                <c:pt idx="3">
                  <c:v>142.19</c:v>
                </c:pt>
                <c:pt idx="4">
                  <c:v>139.86000000000001</c:v>
                </c:pt>
                <c:pt idx="5">
                  <c:v>126</c:v>
                </c:pt>
                <c:pt idx="6">
                  <c:v>6</c:v>
                </c:pt>
                <c:pt idx="7">
                  <c:v>4</c:v>
                </c:pt>
                <c:pt idx="8">
                  <c:v>2.95</c:v>
                </c:pt>
                <c:pt idx="9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D18-4AC0-8D2D-E7A42CB4FF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apoio da cascata (oculto)</c:v>
                </c:pt>
              </c:strCache>
            </c:strRef>
          </c:tx>
          <c:spPr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Necessidade</c:v>
                </c:pt>
                <c:pt idx="1">
                  <c:v>Estoque em 16/10</c:v>
                </c:pt>
                <c:pt idx="2">
                  <c:v>Comprado a receber</c:v>
                </c:pt>
                <c:pt idx="3">
                  <c:v>A comprar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4289.835</c:v>
                </c:pt>
                <c:pt idx="2">
                  <c:v>2259.835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3E-41A1-9F27-9226CF2899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16-00-20 (t)</c:v>
                </c:pt>
              </c:strCache>
            </c:strRef>
          </c:tx>
          <c:spPr>
            <a:solidFill>
              <a:srgbClr val="1F6B3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3B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73E-41A1-9F27-9226CF289944}"/>
              </c:ext>
            </c:extLst>
          </c:dPt>
          <c:dPt>
            <c:idx val="1"/>
            <c:invertIfNegative val="0"/>
            <c:bubble3D val="0"/>
            <c:spPr>
              <a:solidFill>
                <a:srgbClr val="8DBE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3E-41A1-9F27-9226CF289944}"/>
              </c:ext>
            </c:extLst>
          </c:dPt>
          <c:dPt>
            <c:idx val="2"/>
            <c:invertIfNegative val="0"/>
            <c:bubble3D val="0"/>
            <c:spPr>
              <a:solidFill>
                <a:srgbClr val="C5DE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73E-41A1-9F27-9226CF289944}"/>
              </c:ext>
            </c:extLst>
          </c:dPt>
          <c:dPt>
            <c:idx val="3"/>
            <c:invertIfNegative val="0"/>
            <c:bubble3D val="0"/>
            <c:spPr>
              <a:solidFill>
                <a:srgbClr val="B34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3E-41A1-9F27-9226CF289944}"/>
              </c:ext>
            </c:extLst>
          </c:dPt>
          <c:dLbls>
            <c:dLbl>
              <c:idx val="1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3B2C"/>
                      </a:solidFill>
                      <a:latin typeface="+mn-lt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73E-41A1-9F27-9226CF289944}"/>
                </c:ext>
              </c:extLst>
            </c:dLbl>
            <c:dLbl>
              <c:idx val="2"/>
              <c:numFmt formatCode="#,##0.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0E3B2C"/>
                      </a:solidFill>
                      <a:latin typeface="+mn-lt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D73E-41A1-9F27-9226CF289944}"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FFFFF"/>
                    </a:solidFill>
                    <a:latin typeface="+mn-lt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Necessidade</c:v>
                </c:pt>
                <c:pt idx="1">
                  <c:v>Estoque em 16/10</c:v>
                </c:pt>
                <c:pt idx="2">
                  <c:v>Comprado a receber</c:v>
                </c:pt>
                <c:pt idx="3">
                  <c:v>A comprar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5421.835</c:v>
                </c:pt>
                <c:pt idx="1">
                  <c:v>1132</c:v>
                </c:pt>
                <c:pt idx="2">
                  <c:v>2030</c:v>
                </c:pt>
                <c:pt idx="3">
                  <c:v>2259.835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3E-41A1-9F27-9226CF28994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8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Compra de 16-00-20 (t)</c:v>
                </c:pt>
              </c:strCache>
            </c:strRef>
          </c:tx>
          <c:spPr>
            <a:solidFill>
              <a:srgbClr val="B340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28-4310-9322-5A0B666628F0}"/>
              </c:ext>
            </c:extLst>
          </c:dPt>
          <c:dPt>
            <c:idx val="1"/>
            <c:invertIfNegative val="0"/>
            <c:bubble3D val="0"/>
            <c:spPr>
              <a:solidFill>
                <a:srgbClr val="A9B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28-4310-9322-5A0B666628F0}"/>
              </c:ext>
            </c:extLst>
          </c:dPt>
          <c:dPt>
            <c:idx val="2"/>
            <c:invertIfNegative val="0"/>
            <c:bubble3D val="0"/>
            <c:spPr>
              <a:solidFill>
                <a:srgbClr val="1F6B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28-4310-9322-5A0B666628F0}"/>
              </c:ext>
            </c:extLst>
          </c:dPt>
          <c:dPt>
            <c:idx val="3"/>
            <c:invertIfNegative val="0"/>
            <c:bubble3D val="0"/>
            <c:spPr>
              <a:solidFill>
                <a:srgbClr val="A9B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28-4310-9322-5A0B666628F0}"/>
              </c:ext>
            </c:extLst>
          </c:dPt>
          <c:dPt>
            <c:idx val="4"/>
            <c:invertIfNegative val="0"/>
            <c:bubble3D val="0"/>
            <c:spPr>
              <a:solidFill>
                <a:srgbClr val="A9B4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28-4310-9322-5A0B666628F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B25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dias (B)</c:v>
                </c:pt>
                <c:pt idx="1">
                  <c:v>10 dias</c:v>
                </c:pt>
                <c:pt idx="2">
                  <c:v>20 dias (A)</c:v>
                </c:pt>
                <c:pt idx="3">
                  <c:v>30 dias</c:v>
                </c:pt>
                <c:pt idx="4">
                  <c:v>45 dias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2544.3199999999997</c:v>
                </c:pt>
                <c:pt idx="1">
                  <c:v>2513.7349999999997</c:v>
                </c:pt>
                <c:pt idx="2">
                  <c:v>2259.835</c:v>
                </c:pt>
                <c:pt idx="3">
                  <c:v>2005.9349999999995</c:v>
                </c:pt>
                <c:pt idx="4">
                  <c:v>1625.085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28-4310-9322-5A0B66662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9C4B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3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21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Apresentação da necessidade de fertilizantes para concluir a adubação da safra, na posição de 16/10/2026. Os números vêm da planilha 'Necessidade Fertilizante OUT 2026', que traz dois cenários em abas separadas: LOC. 1.000ha (cenário A, 20 dias de vinhaça localizada com potássio adequado) e LOC. 450ha (cenário B, sem novos dias de localizada na CRV). Todos os valores foram recalculados e conferidos com a planilha (87 conferências sem divergência).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principal: para concluir a adubação da safra faltam 2.259,8 t de 16-00-20 no cenário A (2.544,3 t no B). Restam 11.859,27 ha a adubar (H40), iguais nos dois cenários; muda só o produto. Necessidade total: 5.535,6 t no A (K38+K39) e 5.706,3 t no B. O 46-00-00 tem 1.506,97 t disponíveis (estoque 356,97 + a receber 1.150) para uso de 113,8 t. O quadro de decisões entra no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área de tratos culturais soma 29.926 ha (CRV 28.726 = área à colher 29.726 menos 1.000 ha de renovação; Cargill 1.200 ha). Já foram adubados 14.989,80 ha. A cana bisada (3.076,93 ha × 65 t/ha ≈ 200.000 t) não recebe adubação nesta safra. Restam 11.859,27 ha. Esse total não muda entre os cenários: o que muda é quanto vai para vinhaça localizada (com 46-00-00) e quanto vai para fertilizante mineral (16-00-20).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duas fórmulas têm necessidade calculada: 16-00-20 (5.421,8 t no A; 5.706,3 t no B) e 46-00-00 (113,8 t no A; zero no B). O 16-00-20 vai para as áreas de fertilizante mineral a 500 kg/ha; o 46-00-00 complementa o N nas áreas de vinhaça localizada a 200 kg/ha, porque o potássio vem da própria vinhaça. Nutrientes calculados pela garantia da fórmula (N-P₂O₅-K₂O em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área restante se divide em três operações. A vinhaça localizada da Cargill (446,63 ha) não tem fertilizante associado na planilha. No cenário A, 568,97 ha da CRV recebem vinhaça localizada com 46-00-00; no B, essa área passa para fertilizante mineral. A planilha não detalha fazendas ou blocos, então não dá para separar a necessidade por frente ou por local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Comparação por hectare: 500 kg de 16-00-20 entregam 80 kg de N e 100 kg de K₂O; 200 kg de 46-00-00 entregam 92 kg de N e o potássio vem da vinhaça. Por isso, cada hectare que vai para a vinhaça localizada deixa de consumir 500 kg de 16-00-20 (o produto em falta) e consome 200 kg de 46-00-00 (o produto que sobra). A conversão em nutrientes usa apenas a garantia expressa no nome da fórmula; o teor de K da vinhaça não está na planilha e não foi estimado.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Calendário da planilha: posição em 16/10; data limite da vinhaça localizada em 30/11 (45 dias); término da safra em 15/12 (60 dias). No cenário A, a vinhaça localizada atende o nível de potássio por 20 dias, a 50,78 ha/dia (média de setembro), o que dá 1.015,6 ha — dos quais 446,63 ha são da Cargill. A planilha não informa o ritmo da adubação mineral nem a distribuição mensal da demanda. O ritmo de 198 ha/dia é apenas a conta de 11.859,27 ha ÷ 60 dias, como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curva não é previsão da usina: a planilha não traz a demanda mês a mês nem as datas de entrega. Para ter uma ordem de grandeza, a necessidade de 16-00-20 do cenário A foi distribuída por igual nos 60 dias até o término da safra. Nesse ritmo (90,4 t/dia), o estoque de 1.132 t dura cerca de 12,5 dias (até ~28/10); somando as 2.030 t compradas a receber, a cobertura vai até ~20/11. A compra adicional de 2.260 t precisa chegar antes disso; a antecedência do pedido depende do prazo do fornecedor, que é variável a definir. O terceiro cartão entra no clique.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Estoque total de 2.600,32 t em 10 fórmulas. Socaria (16-00-20, 46-00-00, 21-00-00, 25-00-00, 13-00-34): 1.619,82 t; plantio (06-26-25, 06-30-25, 06-27-24, 05-25-25): 838,31 t; Oxyfertil 142,19 t fica fora dos subtotais da planilha. A área equivalente é o estoque dividido pela dose implícita da própria planilha (0,5 t/ha no 16-00-20, 0,2 no 46-00-00, 0,4 no 21-00-00 e 25-00-00, 0,6 nas fórmulas de plantio). Essas áreas não podem ser somadas como se os produtos fossem equivalentes: o 46-00-00 depende da vinhaça para o potássio. O plantio projetado (1.400 ha de fundação + 1.000 ha de renovação) não tem necessidade calculada na planilha.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Necessidade líquida de compra, sem confundir com a bruta: necessidade de 16-00-20 5.421,8 t, menos estoque 1.132 t, menos 2.030 t já compradas a receber = 2.259,8 t a comprar (cenário A). Cobertura atual: 20,9% só com estoque; 58,3% com o que está a receber. No 46-00-00 o quadro se inverte: 1.506,97 t disponíveis para 113,8 t de necessidade — sobra de 1.393,2 t no A e 1.507,0 t no B. Fórmulas sem necessidade calculada (21-00-00, 13-00-34, 25-00-00, Oxyfertil) não entram no balanço.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planilha não traz preços, então o orçamento não foi calculado e nenhum preço foi suposto. O slide mostra a estrutura da conta e a sensibilidade: cada R$ 100/t no preço do 16-00-20 muda a compra em R$ 225.984 no cenário A (2.259,8 t) e em R$ 254.432 no B. Por hectare, R$ 100/t equivalem a R$ 50/ha no 16-00-20 (500 kg/ha) e R$ 20/ha no 46-00-00 (200 kg/ha). Assim que os preços forem informados, a planilha auxiliar (aba Sensibilidade) calcula o orçamento. O cartão de 2.260 t vem do slide anterior com transição Morph.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dois cenários oficiais são as duas abas da planilha. A única premissa que muda é o número de dias em que a vinhaça localizada atende o nível de potássio (C13): 20 dias no A, zero no B. A diferença final é de 284,5 t de 16-00-20 a mais no B. As barras de 10, 30 e 45 dias aplicam a mesma lógica da aba A só mudando C13; servem para mostrar o valor de cada dia de vinhaça com K (25,4 t de 16-00-20 por dia) e não são previsões da usina. O cenário de preço fica para quando houver cotação (estrutura pronta na planilha auxiliar). A alternativa técnica (clique) é hipótese a validar: o N contido no excedente de 46-00-00 cobre o N do déficit, mas o K precisaria de outra fonte, a ser definida e cotada.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sustentados pelos dados da planilha, ordenados por impacto em volume. 1) Déficit de 16-00-20 de 2.259,8 t (A) a 2.544,3 t (B). 2) As 3.180 t compradas a receber (2.030 t de 16-00-20 e 1.150 t de 46-00-00) não têm data de entrega na planilha. 3) Faltam dados para orçamento e logística. 4) O 46-00-00 sobra. 5) Cada dia a menos de vinhaça com potássio aumenta a compra de 16-00-20. 6) O quadro de vinhaça localizada (linhas 26 a 29) não fecha: total 8.517,09 ha contra 6.081,74 ha nas linhas. Não foi feita matriz de probabilidade × impacto porque a planilha não tem base para probabilidade.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frentes, na ordem em que dependem umas das outras: validar a demanda, consolidar volumes, rever estoque e contratos, comprar, programar entrega e acompanhar. As áreas são sugestões pela natureza da tarefa; nomes e prazos não estão na planilha e devem ser definidos pela diretoria. A referência de ~20/11 para a chegada do produto vem da premissa linear do slide de curva de abastecimento.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de acompanhamento proposto. 5 indicadores já são calculáveis com a planilha; os outros 3 (volume entregue, aderência ao cronograma, custo previsto × realizado) dependem de dados que precisam ser incorporados: registro de recebimentos, cronograma de entregas e de aplicação, preços e notas. A área já adubada é mostrada em hectares porque a planilha só traz toneladas aplicadas nas áreas de vinhaça localizada (linhas 27-28).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As quatro conclusões entram uma a uma, no clique; depois, também no clique, o quadro com as três decisões. Decisão 1: compra de 2.259,8 t (A) ou 2.544,3 t (B) de 16-00-20 — a escolha do cenário depende de quantos dias a vinhaça localizada ainda atende o potássio. Decisão 2: destino do excedente de 46-00-00. Decisão 3: cronograma de entrega das compras já feitas e preços, sem os quais não há orçamento nem controle de ruptura.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para consulta: pontos da planilha que precisam de correção ou complemento e as premissas usadas nesta apresentação. Nenhum valor da planilha de origem foi alterado.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7223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520440"/>
            <a:ext cx="72237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55664"/>
            <a:ext cx="182880" cy="182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04672" y="6409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Planejamento de Necessidade de Fertilizantes  ·  Usina CRV Industrial – Unidade Capinópolis-MG  ·  Posição de 16/10/2026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55664"/>
            <a:ext cx="182880" cy="1828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04672" y="640994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C9A0"/>
                </a:solidFill>
              </a:rPr>
              <a:t>Planejamento de Necessidade de Fertilizantes  ·  Usina CRV Industrial – Unidade Capinópolis-MG  ·  Posição de 16/10/2026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9C9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01168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Planejamento de Necessidade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de Fertilizantes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5204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2"/>
                </a:solidFill>
              </a:rPr>
              <a:t>Planejamento agrícola, suprimentos e orçamento</a:t>
            </a:r>
            <a:endParaRPr lang="en-US" sz="2000" dirty="0"/>
          </a:p>
        </p:txBody>
      </p:sp>
      <p:grpSp>
        <p:nvGrpSpPr>
          <p:cNvPr id="8" name="s1_cabec">
            <a:extLst>
              <a:ext uri="{FF2B5EF4-FFF2-40B4-BE49-F238E27FC236}">
                <a16:creationId xmlns:a16="http://schemas.microsoft.com/office/drawing/2014/main" id="{60A2444D-79D1-4C49-CC6B-2622FEA502B4}"/>
              </a:ext>
            </a:extLst>
          </p:cNvPr>
          <p:cNvGrpSpPr/>
          <p:nvPr/>
        </p:nvGrpSpPr>
        <p:grpSpPr>
          <a:xfrm>
            <a:off x="640080" y="1298448"/>
            <a:ext cx="6903720" cy="384048"/>
            <a:chOff x="640080" y="1298448"/>
            <a:chExt cx="6903720" cy="384048"/>
          </a:xfrm>
        </p:grpSpPr>
        <p:pic>
          <p:nvPicPr>
            <p:cNvPr id="4" name="s1_marca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298448"/>
              <a:ext cx="384048" cy="384048"/>
            </a:xfrm>
            <a:prstGeom prst="rect">
              <a:avLst/>
            </a:prstGeom>
          </p:spPr>
        </p:pic>
        <p:sp>
          <p:nvSpPr>
            <p:cNvPr id="5" name="s1_usina"/>
            <p:cNvSpPr txBox="1"/>
            <p:nvPr/>
          </p:nvSpPr>
          <p:spPr>
            <a:xfrm>
              <a:off x="1143000" y="1353312"/>
              <a:ext cx="64008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kern="0" spc="200" dirty="0">
                  <a:solidFill>
                    <a:schemeClr val="bg1"/>
                  </a:solidFill>
                </a:rPr>
                <a:t>USINA CRV INDUSTRIAL  ·  DEPARTAMENTO AGRÍCOLA</a:t>
              </a:r>
              <a:endParaRPr lang="en-US" sz="1300" dirty="0"/>
            </a:p>
          </p:txBody>
        </p:sp>
      </p:grpSp>
      <p:sp>
        <p:nvSpPr>
          <p:cNvPr id="6" name="s1_info"/>
          <p:cNvSpPr txBox="1"/>
          <p:nvPr/>
        </p:nvSpPr>
        <p:spPr>
          <a:xfrm>
            <a:off x="640080" y="434340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D7E5D2"/>
                </a:solidFill>
              </a:rPr>
              <a:t>Unidade Capinópolis – MG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rgbClr val="D7E5D2"/>
                </a:solidFill>
              </a:rPr>
              <a:t>Posição de 16/10/2026  ·  término da safra previsto para 15/12/2026</a:t>
            </a:r>
            <a:endParaRPr lang="en-US" sz="1500" dirty="0"/>
          </a:p>
        </p:txBody>
      </p:sp>
      <p:sp>
        <p:nvSpPr>
          <p:cNvPr id="7" name="s1_base"/>
          <p:cNvSpPr txBox="1"/>
          <p:nvPr/>
        </p:nvSpPr>
        <p:spPr>
          <a:xfrm>
            <a:off x="64008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9A0"/>
                </a:solidFill>
              </a:rPr>
              <a:t>Base: planilha "Necessidade Fertilizante OUT 2026.xlsx" — abas LOC. 1.000ha e LOC. 450ha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RESUMO EXECUTIVO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Faltam 2.260 t de 16-00-20 para fechar a safra</a:t>
            </a:r>
            <a:endParaRPr lang="en-US" sz="3000" dirty="0"/>
          </a:p>
        </p:txBody>
      </p:sp>
      <p:grpSp>
        <p:nvGrpSpPr>
          <p:cNvPr id="49" name="s2_kpi1">
            <a:extLst>
              <a:ext uri="{FF2B5EF4-FFF2-40B4-BE49-F238E27FC236}">
                <a16:creationId xmlns:a16="http://schemas.microsoft.com/office/drawing/2014/main" id="{887239BB-8C34-F65E-2B56-D12DDE102D31}"/>
              </a:ext>
            </a:extLst>
          </p:cNvPr>
          <p:cNvGrpSpPr/>
          <p:nvPr/>
        </p:nvGrpSpPr>
        <p:grpSpPr>
          <a:xfrm>
            <a:off x="548640" y="1481328"/>
            <a:ext cx="2093976" cy="1874520"/>
            <a:chOff x="548640" y="1481328"/>
            <a:chExt cx="2093976" cy="1874520"/>
          </a:xfrm>
        </p:grpSpPr>
        <p:sp>
          <p:nvSpPr>
            <p:cNvPr id="4" name="s2_kpi1_bg"/>
            <p:cNvSpPr/>
            <p:nvPr/>
          </p:nvSpPr>
          <p:spPr>
            <a:xfrm>
              <a:off x="548640" y="1481328"/>
              <a:ext cx="2093976" cy="1874520"/>
            </a:xfrm>
            <a:prstGeom prst="roundRect">
              <a:avLst>
                <a:gd name="adj" fmla="val 3902"/>
              </a:avLst>
            </a:prstGeom>
            <a:solidFill>
              <a:schemeClr val="bg2"/>
            </a:solidFill>
            <a:ln/>
          </p:spPr>
        </p:sp>
        <p:pic>
          <p:nvPicPr>
            <p:cNvPr id="5" name="s2_kpi1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664208"/>
              <a:ext cx="457200" cy="457200"/>
            </a:xfrm>
            <a:prstGeom prst="rect">
              <a:avLst/>
            </a:prstGeom>
          </p:spPr>
        </p:pic>
        <p:sp>
          <p:nvSpPr>
            <p:cNvPr id="6" name="s2_kpi1_num"/>
            <p:cNvSpPr txBox="1"/>
            <p:nvPr/>
          </p:nvSpPr>
          <p:spPr>
            <a:xfrm>
              <a:off x="731520" y="2231136"/>
              <a:ext cx="181965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tx2"/>
                  </a:solidFill>
                </a:rPr>
                <a:t>11.859</a:t>
              </a:r>
              <a:r>
                <a:rPr lang="en-US" sz="1600" b="1" dirty="0">
                  <a:solidFill>
                    <a:schemeClr val="tx2"/>
                  </a:solidFill>
                </a:rPr>
                <a:t> ha</a:t>
              </a:r>
              <a:endParaRPr lang="en-US" sz="1400" dirty="0"/>
            </a:p>
          </p:txBody>
        </p:sp>
        <p:sp>
          <p:nvSpPr>
            <p:cNvPr id="7" name="s2_kpi1_rot"/>
            <p:cNvSpPr txBox="1"/>
            <p:nvPr/>
          </p:nvSpPr>
          <p:spPr>
            <a:xfrm>
              <a:off x="731520" y="2779776"/>
              <a:ext cx="18196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área ainda a adubar</a:t>
              </a:r>
              <a:endParaRPr lang="en-US" sz="1300" dirty="0"/>
            </a:p>
          </p:txBody>
        </p:sp>
        <p:sp>
          <p:nvSpPr>
            <p:cNvPr id="8" name="s2_kpi1_sub"/>
            <p:cNvSpPr txBox="1"/>
            <p:nvPr/>
          </p:nvSpPr>
          <p:spPr>
            <a:xfrm>
              <a:off x="731520" y="3035808"/>
              <a:ext cx="1819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6"/>
                  </a:solidFill>
                </a:rPr>
                <a:t>igual nos dois cenários</a:t>
              </a:r>
              <a:endParaRPr lang="en-US" sz="1100" dirty="0"/>
            </a:p>
          </p:txBody>
        </p:sp>
      </p:grpSp>
      <p:grpSp>
        <p:nvGrpSpPr>
          <p:cNvPr id="50" name="s2_kpi2">
            <a:extLst>
              <a:ext uri="{FF2B5EF4-FFF2-40B4-BE49-F238E27FC236}">
                <a16:creationId xmlns:a16="http://schemas.microsoft.com/office/drawing/2014/main" id="{A593155F-258A-DD5E-AA1E-A9C6B9336A81}"/>
              </a:ext>
            </a:extLst>
          </p:cNvPr>
          <p:cNvGrpSpPr/>
          <p:nvPr/>
        </p:nvGrpSpPr>
        <p:grpSpPr>
          <a:xfrm>
            <a:off x="2798064" y="1481328"/>
            <a:ext cx="2093976" cy="1874520"/>
            <a:chOff x="2798064" y="1481328"/>
            <a:chExt cx="2093976" cy="1874520"/>
          </a:xfrm>
        </p:grpSpPr>
        <p:sp>
          <p:nvSpPr>
            <p:cNvPr id="9" name="s2_kpi2_bg"/>
            <p:cNvSpPr/>
            <p:nvPr/>
          </p:nvSpPr>
          <p:spPr>
            <a:xfrm>
              <a:off x="2798064" y="1481328"/>
              <a:ext cx="2093976" cy="1874520"/>
            </a:xfrm>
            <a:prstGeom prst="roundRect">
              <a:avLst>
                <a:gd name="adj" fmla="val 3902"/>
              </a:avLst>
            </a:prstGeom>
            <a:solidFill>
              <a:schemeClr val="bg2"/>
            </a:solidFill>
            <a:ln/>
          </p:spPr>
        </p:sp>
        <p:pic>
          <p:nvPicPr>
            <p:cNvPr id="10" name="s2_kpi2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80944" y="1664208"/>
              <a:ext cx="457200" cy="457200"/>
            </a:xfrm>
            <a:prstGeom prst="rect">
              <a:avLst/>
            </a:prstGeom>
          </p:spPr>
        </p:pic>
        <p:sp>
          <p:nvSpPr>
            <p:cNvPr id="11" name="s2_kpi2_num"/>
            <p:cNvSpPr txBox="1"/>
            <p:nvPr/>
          </p:nvSpPr>
          <p:spPr>
            <a:xfrm>
              <a:off x="2980944" y="2231136"/>
              <a:ext cx="181965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tx2"/>
                  </a:solidFill>
                </a:rPr>
                <a:t>5.536</a:t>
              </a:r>
              <a:r>
                <a:rPr lang="en-US" sz="1600" b="1" dirty="0">
                  <a:solidFill>
                    <a:schemeClr val="tx2"/>
                  </a:solidFill>
                </a:rPr>
                <a:t> t</a:t>
              </a:r>
              <a:endParaRPr lang="en-US" sz="1400" dirty="0"/>
            </a:p>
          </p:txBody>
        </p:sp>
        <p:sp>
          <p:nvSpPr>
            <p:cNvPr id="12" name="s2_kpi2_rot"/>
            <p:cNvSpPr txBox="1"/>
            <p:nvPr/>
          </p:nvSpPr>
          <p:spPr>
            <a:xfrm>
              <a:off x="2980944" y="2779776"/>
              <a:ext cx="18196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necessidade total</a:t>
              </a:r>
              <a:endParaRPr lang="en-US" sz="1300" dirty="0"/>
            </a:p>
          </p:txBody>
        </p:sp>
        <p:sp>
          <p:nvSpPr>
            <p:cNvPr id="13" name="s2_kpi2_sub"/>
            <p:cNvSpPr txBox="1"/>
            <p:nvPr/>
          </p:nvSpPr>
          <p:spPr>
            <a:xfrm>
              <a:off x="2980944" y="3035808"/>
              <a:ext cx="1819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6"/>
                  </a:solidFill>
                </a:rPr>
                <a:t>cenário A · 5.706 t no B</a:t>
              </a:r>
              <a:endParaRPr lang="en-US" sz="1100" dirty="0"/>
            </a:p>
          </p:txBody>
        </p:sp>
      </p:grpSp>
      <p:grpSp>
        <p:nvGrpSpPr>
          <p:cNvPr id="51" name="s2_kpi3">
            <a:extLst>
              <a:ext uri="{FF2B5EF4-FFF2-40B4-BE49-F238E27FC236}">
                <a16:creationId xmlns:a16="http://schemas.microsoft.com/office/drawing/2014/main" id="{8A70E947-4D72-3A98-1D0F-E6AA4B6E6598}"/>
              </a:ext>
            </a:extLst>
          </p:cNvPr>
          <p:cNvGrpSpPr/>
          <p:nvPr/>
        </p:nvGrpSpPr>
        <p:grpSpPr>
          <a:xfrm>
            <a:off x="5047488" y="1481328"/>
            <a:ext cx="2093976" cy="1874520"/>
            <a:chOff x="5047488" y="1481328"/>
            <a:chExt cx="2093976" cy="1874520"/>
          </a:xfrm>
        </p:grpSpPr>
        <p:sp>
          <p:nvSpPr>
            <p:cNvPr id="14" name="s2_kpi3_bg"/>
            <p:cNvSpPr/>
            <p:nvPr/>
          </p:nvSpPr>
          <p:spPr>
            <a:xfrm>
              <a:off x="5047488" y="1481328"/>
              <a:ext cx="2093976" cy="1874520"/>
            </a:xfrm>
            <a:prstGeom prst="roundRect">
              <a:avLst>
                <a:gd name="adj" fmla="val 3902"/>
              </a:avLst>
            </a:prstGeom>
            <a:solidFill>
              <a:schemeClr val="bg2"/>
            </a:solidFill>
            <a:ln/>
          </p:spPr>
        </p:sp>
        <p:pic>
          <p:nvPicPr>
            <p:cNvPr id="15" name="s2_kpi3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30368" y="1664208"/>
              <a:ext cx="457200" cy="457200"/>
            </a:xfrm>
            <a:prstGeom prst="rect">
              <a:avLst/>
            </a:prstGeom>
          </p:spPr>
        </p:pic>
        <p:sp>
          <p:nvSpPr>
            <p:cNvPr id="16" name="s2_kpi3_num"/>
            <p:cNvSpPr txBox="1"/>
            <p:nvPr/>
          </p:nvSpPr>
          <p:spPr>
            <a:xfrm>
              <a:off x="5230368" y="2231136"/>
              <a:ext cx="181965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accent4"/>
                  </a:solidFill>
                </a:rPr>
                <a:t>2.260</a:t>
              </a:r>
              <a:r>
                <a:rPr lang="en-US" sz="1600" b="1" dirty="0">
                  <a:solidFill>
                    <a:schemeClr val="accent4"/>
                  </a:solidFill>
                </a:rPr>
                <a:t> t</a:t>
              </a:r>
              <a:endParaRPr lang="en-US" sz="1400" dirty="0"/>
            </a:p>
          </p:txBody>
        </p:sp>
        <p:sp>
          <p:nvSpPr>
            <p:cNvPr id="17" name="s2_kpi3_rot"/>
            <p:cNvSpPr txBox="1"/>
            <p:nvPr/>
          </p:nvSpPr>
          <p:spPr>
            <a:xfrm>
              <a:off x="5230368" y="2779776"/>
              <a:ext cx="18196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16-00-20 a comprar</a:t>
              </a:r>
              <a:endParaRPr lang="en-US" sz="1300" dirty="0"/>
            </a:p>
          </p:txBody>
        </p:sp>
        <p:sp>
          <p:nvSpPr>
            <p:cNvPr id="18" name="s2_kpi3_sub"/>
            <p:cNvSpPr txBox="1"/>
            <p:nvPr/>
          </p:nvSpPr>
          <p:spPr>
            <a:xfrm>
              <a:off x="5230368" y="3035808"/>
              <a:ext cx="1819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6"/>
                  </a:solidFill>
                </a:rPr>
                <a:t>cenário A · 2.544 t no B</a:t>
              </a:r>
              <a:endParaRPr lang="en-US" sz="1100" dirty="0"/>
            </a:p>
          </p:txBody>
        </p:sp>
      </p:grpSp>
      <p:grpSp>
        <p:nvGrpSpPr>
          <p:cNvPr id="52" name="s2_kpi4">
            <a:extLst>
              <a:ext uri="{FF2B5EF4-FFF2-40B4-BE49-F238E27FC236}">
                <a16:creationId xmlns:a16="http://schemas.microsoft.com/office/drawing/2014/main" id="{09328FD1-86EA-9ACF-CB3D-DB1D595D0579}"/>
              </a:ext>
            </a:extLst>
          </p:cNvPr>
          <p:cNvGrpSpPr/>
          <p:nvPr/>
        </p:nvGrpSpPr>
        <p:grpSpPr>
          <a:xfrm>
            <a:off x="7296912" y="1481328"/>
            <a:ext cx="2093976" cy="1874520"/>
            <a:chOff x="7296912" y="1481328"/>
            <a:chExt cx="2093976" cy="1874520"/>
          </a:xfrm>
        </p:grpSpPr>
        <p:sp>
          <p:nvSpPr>
            <p:cNvPr id="19" name="s2_kpi4_bg"/>
            <p:cNvSpPr/>
            <p:nvPr/>
          </p:nvSpPr>
          <p:spPr>
            <a:xfrm>
              <a:off x="7296912" y="1481328"/>
              <a:ext cx="2093976" cy="1874520"/>
            </a:xfrm>
            <a:prstGeom prst="roundRect">
              <a:avLst>
                <a:gd name="adj" fmla="val 3902"/>
              </a:avLst>
            </a:prstGeom>
            <a:solidFill>
              <a:schemeClr val="bg2"/>
            </a:solidFill>
            <a:ln/>
          </p:spPr>
        </p:sp>
        <p:pic>
          <p:nvPicPr>
            <p:cNvPr id="20" name="s2_kpi4_ic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79792" y="1664208"/>
              <a:ext cx="457200" cy="457200"/>
            </a:xfrm>
            <a:prstGeom prst="rect">
              <a:avLst/>
            </a:prstGeom>
          </p:spPr>
        </p:pic>
        <p:sp>
          <p:nvSpPr>
            <p:cNvPr id="21" name="s2_kpi4_num"/>
            <p:cNvSpPr txBox="1"/>
            <p:nvPr/>
          </p:nvSpPr>
          <p:spPr>
            <a:xfrm>
              <a:off x="7479792" y="2231136"/>
              <a:ext cx="181965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tx2"/>
                  </a:solidFill>
                </a:rPr>
                <a:t>+1.393</a:t>
              </a:r>
              <a:r>
                <a:rPr lang="en-US" sz="1600" b="1" dirty="0">
                  <a:solidFill>
                    <a:schemeClr val="tx2"/>
                  </a:solidFill>
                </a:rPr>
                <a:t> t</a:t>
              </a:r>
              <a:endParaRPr lang="en-US" sz="1400" dirty="0"/>
            </a:p>
          </p:txBody>
        </p:sp>
        <p:sp>
          <p:nvSpPr>
            <p:cNvPr id="22" name="s2_kpi4_rot"/>
            <p:cNvSpPr txBox="1"/>
            <p:nvPr/>
          </p:nvSpPr>
          <p:spPr>
            <a:xfrm>
              <a:off x="7479792" y="2779776"/>
              <a:ext cx="18196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excedente de 46-00-00</a:t>
              </a:r>
              <a:endParaRPr lang="en-US" sz="1300" dirty="0"/>
            </a:p>
          </p:txBody>
        </p:sp>
        <p:sp>
          <p:nvSpPr>
            <p:cNvPr id="23" name="s2_kpi4_sub"/>
            <p:cNvSpPr txBox="1"/>
            <p:nvPr/>
          </p:nvSpPr>
          <p:spPr>
            <a:xfrm>
              <a:off x="7479792" y="3035808"/>
              <a:ext cx="1819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6"/>
                  </a:solidFill>
                </a:rPr>
                <a:t>cenário A · +1.507 t no B</a:t>
              </a:r>
              <a:endParaRPr lang="en-US" sz="1100" dirty="0"/>
            </a:p>
          </p:txBody>
        </p:sp>
      </p:grpSp>
      <p:grpSp>
        <p:nvGrpSpPr>
          <p:cNvPr id="53" name="s2_kpi5">
            <a:extLst>
              <a:ext uri="{FF2B5EF4-FFF2-40B4-BE49-F238E27FC236}">
                <a16:creationId xmlns:a16="http://schemas.microsoft.com/office/drawing/2014/main" id="{7A99261E-FEE2-3A09-2CAB-75E2C9FBC98C}"/>
              </a:ext>
            </a:extLst>
          </p:cNvPr>
          <p:cNvGrpSpPr/>
          <p:nvPr/>
        </p:nvGrpSpPr>
        <p:grpSpPr>
          <a:xfrm>
            <a:off x="9546336" y="1481328"/>
            <a:ext cx="2093976" cy="1874520"/>
            <a:chOff x="9546336" y="1481328"/>
            <a:chExt cx="2093976" cy="1874520"/>
          </a:xfrm>
        </p:grpSpPr>
        <p:sp>
          <p:nvSpPr>
            <p:cNvPr id="24" name="s2_kpi5_bg"/>
            <p:cNvSpPr/>
            <p:nvPr/>
          </p:nvSpPr>
          <p:spPr>
            <a:xfrm>
              <a:off x="9546336" y="1481328"/>
              <a:ext cx="2093976" cy="1874520"/>
            </a:xfrm>
            <a:prstGeom prst="roundRect">
              <a:avLst>
                <a:gd name="adj" fmla="val 3902"/>
              </a:avLst>
            </a:prstGeom>
            <a:solidFill>
              <a:schemeClr val="bg2"/>
            </a:solidFill>
            <a:ln/>
          </p:spPr>
        </p:sp>
        <p:pic>
          <p:nvPicPr>
            <p:cNvPr id="25" name="s2_kpi5_ic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29216" y="1664208"/>
              <a:ext cx="457200" cy="457200"/>
            </a:xfrm>
            <a:prstGeom prst="rect">
              <a:avLst/>
            </a:prstGeom>
          </p:spPr>
        </p:pic>
        <p:sp>
          <p:nvSpPr>
            <p:cNvPr id="26" name="s2_kpi5_num"/>
            <p:cNvSpPr txBox="1"/>
            <p:nvPr/>
          </p:nvSpPr>
          <p:spPr>
            <a:xfrm>
              <a:off x="9729216" y="2231136"/>
              <a:ext cx="181965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tx2"/>
                  </a:solidFill>
                </a:rPr>
                <a:t>60</a:t>
              </a:r>
              <a:r>
                <a:rPr lang="en-US" sz="1600" b="1" dirty="0">
                  <a:solidFill>
                    <a:schemeClr val="tx2"/>
                  </a:solidFill>
                </a:rPr>
                <a:t> dias</a:t>
              </a:r>
              <a:endParaRPr lang="en-US" sz="1400" dirty="0"/>
            </a:p>
          </p:txBody>
        </p:sp>
        <p:sp>
          <p:nvSpPr>
            <p:cNvPr id="27" name="s2_kpi5_rot"/>
            <p:cNvSpPr txBox="1"/>
            <p:nvPr/>
          </p:nvSpPr>
          <p:spPr>
            <a:xfrm>
              <a:off x="9729216" y="2779776"/>
              <a:ext cx="18196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até o término da safra</a:t>
              </a:r>
              <a:endParaRPr lang="en-US" sz="1300" dirty="0"/>
            </a:p>
          </p:txBody>
        </p:sp>
        <p:sp>
          <p:nvSpPr>
            <p:cNvPr id="28" name="s2_kpi5_sub"/>
            <p:cNvSpPr txBox="1"/>
            <p:nvPr/>
          </p:nvSpPr>
          <p:spPr>
            <a:xfrm>
              <a:off x="9729216" y="3035808"/>
              <a:ext cx="1819656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accent6"/>
                  </a:solidFill>
                </a:rPr>
                <a:t>15/12/2026</a:t>
              </a:r>
              <a:endParaRPr lang="en-US" sz="1100" dirty="0"/>
            </a:p>
          </p:txBody>
        </p:sp>
      </p:grpSp>
      <p:grpSp>
        <p:nvGrpSpPr>
          <p:cNvPr id="54" name="s2_leitura">
            <a:extLst>
              <a:ext uri="{FF2B5EF4-FFF2-40B4-BE49-F238E27FC236}">
                <a16:creationId xmlns:a16="http://schemas.microsoft.com/office/drawing/2014/main" id="{5ED4FF01-B02C-80D9-7F01-DAE07A6CD47A}"/>
              </a:ext>
            </a:extLst>
          </p:cNvPr>
          <p:cNvGrpSpPr/>
          <p:nvPr/>
        </p:nvGrpSpPr>
        <p:grpSpPr>
          <a:xfrm>
            <a:off x="548640" y="3630168"/>
            <a:ext cx="5486400" cy="2286000"/>
            <a:chOff x="548640" y="3630168"/>
            <a:chExt cx="5486400" cy="2286000"/>
          </a:xfrm>
        </p:grpSpPr>
        <p:sp>
          <p:nvSpPr>
            <p:cNvPr id="29" name="s2_leit_t"/>
            <p:cNvSpPr txBox="1"/>
            <p:nvPr/>
          </p:nvSpPr>
          <p:spPr>
            <a:xfrm>
              <a:off x="548640" y="3630168"/>
              <a:ext cx="54864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O que os números mostram</a:t>
              </a:r>
              <a:endParaRPr lang="en-US" sz="1600" dirty="0"/>
            </a:p>
          </p:txBody>
        </p:sp>
        <p:pic>
          <p:nvPicPr>
            <p:cNvPr id="30" name="s2_leit0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4087368"/>
              <a:ext cx="365760" cy="365760"/>
            </a:xfrm>
            <a:prstGeom prst="rect">
              <a:avLst/>
            </a:prstGeom>
          </p:spPr>
        </p:pic>
        <p:sp>
          <p:nvSpPr>
            <p:cNvPr id="31" name="s2_leit0_tx"/>
            <p:cNvSpPr txBox="1"/>
            <p:nvPr/>
          </p:nvSpPr>
          <p:spPr>
            <a:xfrm>
              <a:off x="1051560" y="4069080"/>
              <a:ext cx="4892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98% do volume restante é 16-00-20; estoque e compras já feitas cobrem 58% dele.</a:t>
              </a:r>
              <a:endParaRPr lang="en-US" sz="1400" dirty="0"/>
            </a:p>
          </p:txBody>
        </p:sp>
        <p:pic>
          <p:nvPicPr>
            <p:cNvPr id="32" name="s2_leit1_ic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8640" y="4727448"/>
              <a:ext cx="365760" cy="365760"/>
            </a:xfrm>
            <a:prstGeom prst="rect">
              <a:avLst/>
            </a:prstGeom>
          </p:spPr>
        </p:pic>
        <p:sp>
          <p:nvSpPr>
            <p:cNvPr id="33" name="s2_leit1_tx"/>
            <p:cNvSpPr txBox="1"/>
            <p:nvPr/>
          </p:nvSpPr>
          <p:spPr>
            <a:xfrm>
              <a:off x="1051560" y="4709160"/>
              <a:ext cx="4892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46-00-00 sobra: há 1.507 t disponíveis para 114 t de uso previsto no cenário A.</a:t>
              </a:r>
              <a:endParaRPr lang="en-US" sz="1400" dirty="0"/>
            </a:p>
          </p:txBody>
        </p:sp>
        <p:pic>
          <p:nvPicPr>
            <p:cNvPr id="34" name="s2_leit2_ic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8640" y="5367528"/>
              <a:ext cx="365760" cy="365760"/>
            </a:xfrm>
            <a:prstGeom prst="rect">
              <a:avLst/>
            </a:prstGeom>
          </p:spPr>
        </p:pic>
        <p:sp>
          <p:nvSpPr>
            <p:cNvPr id="35" name="s2_leit2_tx"/>
            <p:cNvSpPr txBox="1"/>
            <p:nvPr/>
          </p:nvSpPr>
          <p:spPr>
            <a:xfrm>
              <a:off x="1051560" y="5349240"/>
              <a:ext cx="4892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A planilha não traz preços nem datas de entrega: orçamento e risco de ruptura ainda estão em aberto.</a:t>
              </a:r>
              <a:endParaRPr lang="en-US" sz="1400" dirty="0"/>
            </a:p>
          </p:txBody>
        </p:sp>
      </p:grpSp>
      <p:grpSp>
        <p:nvGrpSpPr>
          <p:cNvPr id="55" name="s2_decisoes">
            <a:extLst>
              <a:ext uri="{FF2B5EF4-FFF2-40B4-BE49-F238E27FC236}">
                <a16:creationId xmlns:a16="http://schemas.microsoft.com/office/drawing/2014/main" id="{EDBF3C5A-BFBB-7C2F-5ABF-530186CE0EB0}"/>
              </a:ext>
            </a:extLst>
          </p:cNvPr>
          <p:cNvGrpSpPr/>
          <p:nvPr/>
        </p:nvGrpSpPr>
        <p:grpSpPr>
          <a:xfrm>
            <a:off x="6263640" y="3630168"/>
            <a:ext cx="5376672" cy="2331720"/>
            <a:chOff x="6263640" y="3630168"/>
            <a:chExt cx="5376672" cy="2331720"/>
          </a:xfrm>
        </p:grpSpPr>
        <p:sp>
          <p:nvSpPr>
            <p:cNvPr id="36" name="s2_dec_bg"/>
            <p:cNvSpPr/>
            <p:nvPr/>
          </p:nvSpPr>
          <p:spPr>
            <a:xfrm>
              <a:off x="6263640" y="3630168"/>
              <a:ext cx="5376672" cy="2331720"/>
            </a:xfrm>
            <a:prstGeom prst="roundRect">
              <a:avLst>
                <a:gd name="adj" fmla="val 3137"/>
              </a:avLst>
            </a:prstGeom>
            <a:solidFill>
              <a:schemeClr val="tx2"/>
            </a:solidFill>
            <a:ln/>
          </p:spPr>
        </p:sp>
        <p:sp>
          <p:nvSpPr>
            <p:cNvPr id="37" name="s2_dec_t"/>
            <p:cNvSpPr txBox="1"/>
            <p:nvPr/>
          </p:nvSpPr>
          <p:spPr>
            <a:xfrm>
              <a:off x="6537960" y="3794760"/>
              <a:ext cx="48463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accent2"/>
                  </a:solidFill>
                </a:rPr>
                <a:t>Decisões para a diretoria</a:t>
              </a:r>
              <a:endParaRPr lang="en-US" sz="1600" dirty="0"/>
            </a:p>
          </p:txBody>
        </p:sp>
        <p:sp>
          <p:nvSpPr>
            <p:cNvPr id="38" name="s2_dec0_n"/>
            <p:cNvSpPr/>
            <p:nvPr/>
          </p:nvSpPr>
          <p:spPr>
            <a:xfrm>
              <a:off x="6537960" y="4270248"/>
              <a:ext cx="329184" cy="329184"/>
            </a:xfrm>
            <a:prstGeom prst="ellipse">
              <a:avLst/>
            </a:prstGeom>
            <a:solidFill>
              <a:schemeClr val="accent3"/>
            </a:solidFill>
            <a:ln/>
          </p:spPr>
        </p:sp>
        <p:sp>
          <p:nvSpPr>
            <p:cNvPr id="39" name="s2_dec0_nt"/>
            <p:cNvSpPr txBox="1"/>
            <p:nvPr/>
          </p:nvSpPr>
          <p:spPr>
            <a:xfrm>
              <a:off x="6537960" y="4270248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1</a:t>
              </a:r>
              <a:endParaRPr lang="en-US" sz="1400" dirty="0"/>
            </a:p>
          </p:txBody>
        </p:sp>
        <p:sp>
          <p:nvSpPr>
            <p:cNvPr id="40" name="s2_dec0_tx"/>
            <p:cNvSpPr txBox="1"/>
            <p:nvPr/>
          </p:nvSpPr>
          <p:spPr>
            <a:xfrm>
              <a:off x="7022592" y="4251960"/>
              <a:ext cx="44348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</a:rPr>
                <a:t>Aprovar a compra de 16-00-20: 2.260 t (A) ou 2.544 t (B)</a:t>
              </a:r>
              <a:endParaRPr lang="en-US" sz="1400" dirty="0"/>
            </a:p>
          </p:txBody>
        </p:sp>
        <p:sp>
          <p:nvSpPr>
            <p:cNvPr id="41" name="s2_dec1_n"/>
            <p:cNvSpPr/>
            <p:nvPr/>
          </p:nvSpPr>
          <p:spPr>
            <a:xfrm>
              <a:off x="6537960" y="4818888"/>
              <a:ext cx="329184" cy="329184"/>
            </a:xfrm>
            <a:prstGeom prst="ellipse">
              <a:avLst/>
            </a:prstGeom>
            <a:solidFill>
              <a:schemeClr val="accent3"/>
            </a:solidFill>
            <a:ln/>
          </p:spPr>
        </p:sp>
        <p:sp>
          <p:nvSpPr>
            <p:cNvPr id="42" name="s2_dec1_nt"/>
            <p:cNvSpPr txBox="1"/>
            <p:nvPr/>
          </p:nvSpPr>
          <p:spPr>
            <a:xfrm>
              <a:off x="6537960" y="4818888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2</a:t>
              </a:r>
              <a:endParaRPr lang="en-US" sz="1400" dirty="0"/>
            </a:p>
          </p:txBody>
        </p:sp>
        <p:sp>
          <p:nvSpPr>
            <p:cNvPr id="43" name="s2_dec1_tx"/>
            <p:cNvSpPr txBox="1"/>
            <p:nvPr/>
          </p:nvSpPr>
          <p:spPr>
            <a:xfrm>
              <a:off x="7022592" y="4800600"/>
              <a:ext cx="44348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</a:rPr>
                <a:t>Definir o destino do excedente de 46-00-00</a:t>
              </a:r>
              <a:endParaRPr lang="en-US" sz="1400" dirty="0"/>
            </a:p>
          </p:txBody>
        </p:sp>
        <p:sp>
          <p:nvSpPr>
            <p:cNvPr id="44" name="s2_dec2_n"/>
            <p:cNvSpPr/>
            <p:nvPr/>
          </p:nvSpPr>
          <p:spPr>
            <a:xfrm>
              <a:off x="6537960" y="5367528"/>
              <a:ext cx="329184" cy="329184"/>
            </a:xfrm>
            <a:prstGeom prst="ellipse">
              <a:avLst/>
            </a:prstGeom>
            <a:solidFill>
              <a:schemeClr val="accent3"/>
            </a:solidFill>
            <a:ln/>
          </p:spPr>
        </p:sp>
        <p:sp>
          <p:nvSpPr>
            <p:cNvPr id="45" name="s2_dec2_nt"/>
            <p:cNvSpPr txBox="1"/>
            <p:nvPr/>
          </p:nvSpPr>
          <p:spPr>
            <a:xfrm>
              <a:off x="6537960" y="5367528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3</a:t>
              </a:r>
              <a:endParaRPr lang="en-US" sz="1400" dirty="0"/>
            </a:p>
          </p:txBody>
        </p:sp>
        <p:sp>
          <p:nvSpPr>
            <p:cNvPr id="46" name="s2_dec2_tx"/>
            <p:cNvSpPr txBox="1"/>
            <p:nvPr/>
          </p:nvSpPr>
          <p:spPr>
            <a:xfrm>
              <a:off x="7022592" y="5349240"/>
              <a:ext cx="44348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</a:rPr>
                <a:t>Exigir o cronograma de entrega das 3.180 t já compradas</a:t>
              </a:r>
              <a:endParaRPr lang="en-US" sz="1400" dirty="0"/>
            </a:p>
          </p:txBody>
        </p:sp>
      </p:grpSp>
      <p:sp>
        <p:nvSpPr>
          <p:cNvPr id="47" name="s2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 (cenário A) e LOC. 450ha (cenário B), quadros 3 (áreas remanescentes) e 4 (resumo).</a:t>
            </a:r>
            <a:endParaRPr lang="en-US" sz="10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VISÃO GERAL DA DEMANDA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11.859 ha ainda precisam de adubação nesta safra</a:t>
            </a:r>
            <a:endParaRPr lang="en-US" sz="3000" dirty="0"/>
          </a:p>
        </p:txBody>
      </p:sp>
      <p:sp>
        <p:nvSpPr>
          <p:cNvPr id="4" name="s3_cap"/>
          <p:cNvSpPr txBox="1"/>
          <p:nvPr/>
        </p:nvSpPr>
        <p:spPr>
          <a:xfrm>
            <a:off x="548640" y="148132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 área de tratos culturais à área a adubar (ha)</a:t>
            </a:r>
            <a:endParaRPr lang="en-US" sz="1400" dirty="0"/>
          </a:p>
        </p:txBody>
      </p:sp>
      <p:graphicFrame>
        <p:nvGraphicFramePr>
          <p:cNvPr id="5" name="s3_graf"/>
          <p:cNvGraphicFramePr/>
          <p:nvPr/>
        </p:nvGraphicFramePr>
        <p:xfrm>
          <a:off x="548640" y="1810512"/>
          <a:ext cx="6949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6" name="s3_st0">
            <a:extLst>
              <a:ext uri="{FF2B5EF4-FFF2-40B4-BE49-F238E27FC236}">
                <a16:creationId xmlns:a16="http://schemas.microsoft.com/office/drawing/2014/main" id="{B94E6344-AC61-0CAB-591E-E4B51D0455FC}"/>
              </a:ext>
            </a:extLst>
          </p:cNvPr>
          <p:cNvGrpSpPr/>
          <p:nvPr/>
        </p:nvGrpSpPr>
        <p:grpSpPr>
          <a:xfrm>
            <a:off x="7863840" y="1481328"/>
            <a:ext cx="3776472" cy="978408"/>
            <a:chOff x="7863840" y="1481328"/>
            <a:chExt cx="3776472" cy="978408"/>
          </a:xfrm>
        </p:grpSpPr>
        <p:sp>
          <p:nvSpPr>
            <p:cNvPr id="6" name="s3_st0_v"/>
            <p:cNvSpPr txBox="1"/>
            <p:nvPr/>
          </p:nvSpPr>
          <p:spPr>
            <a:xfrm>
              <a:off x="7863840" y="1481328"/>
              <a:ext cx="14173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chemeClr val="accent1"/>
                  </a:solidFill>
                </a:rPr>
                <a:t>50%</a:t>
              </a:r>
              <a:endParaRPr lang="en-US" sz="3600" dirty="0"/>
            </a:p>
          </p:txBody>
        </p:sp>
        <p:sp>
          <p:nvSpPr>
            <p:cNvPr id="7" name="s3_st0_t"/>
            <p:cNvSpPr txBox="1"/>
            <p:nvPr/>
          </p:nvSpPr>
          <p:spPr>
            <a:xfrm>
              <a:off x="9326880" y="1499616"/>
              <a:ext cx="2313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da área de tratos já foi adubada: 14.990 ha (CRV 14.236 + Cargill 753)</a:t>
              </a:r>
              <a:endParaRPr lang="en-US" sz="1300" dirty="0"/>
            </a:p>
          </p:txBody>
        </p:sp>
      </p:grpSp>
      <p:grpSp>
        <p:nvGrpSpPr>
          <p:cNvPr id="17" name="s3_st1">
            <a:extLst>
              <a:ext uri="{FF2B5EF4-FFF2-40B4-BE49-F238E27FC236}">
                <a16:creationId xmlns:a16="http://schemas.microsoft.com/office/drawing/2014/main" id="{53D0EFC6-AD61-0B6F-C108-727ECB8EF6FA}"/>
              </a:ext>
            </a:extLst>
          </p:cNvPr>
          <p:cNvGrpSpPr/>
          <p:nvPr/>
        </p:nvGrpSpPr>
        <p:grpSpPr>
          <a:xfrm>
            <a:off x="7863840" y="2578608"/>
            <a:ext cx="3776472" cy="978408"/>
            <a:chOff x="7863840" y="2578608"/>
            <a:chExt cx="3776472" cy="978408"/>
          </a:xfrm>
        </p:grpSpPr>
        <p:sp>
          <p:nvSpPr>
            <p:cNvPr id="8" name="s3_st1_v"/>
            <p:cNvSpPr txBox="1"/>
            <p:nvPr/>
          </p:nvSpPr>
          <p:spPr>
            <a:xfrm>
              <a:off x="7863840" y="2578608"/>
              <a:ext cx="14173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chemeClr val="accent6"/>
                  </a:solidFill>
                </a:rPr>
                <a:t>10%</a:t>
              </a:r>
              <a:endParaRPr lang="en-US" sz="3600" dirty="0"/>
            </a:p>
          </p:txBody>
        </p:sp>
        <p:sp>
          <p:nvSpPr>
            <p:cNvPr id="9" name="s3_st1_t"/>
            <p:cNvSpPr txBox="1"/>
            <p:nvPr/>
          </p:nvSpPr>
          <p:spPr>
            <a:xfrm>
              <a:off x="9326880" y="2596896"/>
              <a:ext cx="2313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fica como cana bisada: 3.077 ha, ~200 mil t para a próxima safra</a:t>
              </a:r>
              <a:endParaRPr lang="en-US" sz="1300" dirty="0"/>
            </a:p>
          </p:txBody>
        </p:sp>
      </p:grpSp>
      <p:grpSp>
        <p:nvGrpSpPr>
          <p:cNvPr id="18" name="s3_st2">
            <a:extLst>
              <a:ext uri="{FF2B5EF4-FFF2-40B4-BE49-F238E27FC236}">
                <a16:creationId xmlns:a16="http://schemas.microsoft.com/office/drawing/2014/main" id="{B04432FA-9514-200B-0FFF-2FFAABD2633A}"/>
              </a:ext>
            </a:extLst>
          </p:cNvPr>
          <p:cNvGrpSpPr/>
          <p:nvPr/>
        </p:nvGrpSpPr>
        <p:grpSpPr>
          <a:xfrm>
            <a:off x="7863840" y="3675888"/>
            <a:ext cx="3776472" cy="978408"/>
            <a:chOff x="7863840" y="3675888"/>
            <a:chExt cx="3776472" cy="978408"/>
          </a:xfrm>
        </p:grpSpPr>
        <p:sp>
          <p:nvSpPr>
            <p:cNvPr id="10" name="s3_st2_v"/>
            <p:cNvSpPr txBox="1"/>
            <p:nvPr/>
          </p:nvSpPr>
          <p:spPr>
            <a:xfrm>
              <a:off x="7863840" y="3675888"/>
              <a:ext cx="14173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chemeClr val="tx2"/>
                  </a:solidFill>
                </a:rPr>
                <a:t>40%</a:t>
              </a:r>
              <a:endParaRPr lang="en-US" sz="3600" dirty="0"/>
            </a:p>
          </p:txBody>
        </p:sp>
        <p:sp>
          <p:nvSpPr>
            <p:cNvPr id="11" name="s3_st2_t"/>
            <p:cNvSpPr txBox="1"/>
            <p:nvPr/>
          </p:nvSpPr>
          <p:spPr>
            <a:xfrm>
              <a:off x="9326880" y="3694176"/>
              <a:ext cx="2313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ainda a adubar: 11.859 ha em 60 dias de safra</a:t>
              </a:r>
              <a:endParaRPr lang="en-US" sz="1300" dirty="0"/>
            </a:p>
          </p:txBody>
        </p:sp>
      </p:grpSp>
      <p:grpSp>
        <p:nvGrpSpPr>
          <p:cNvPr id="19" name="s3_nota">
            <a:extLst>
              <a:ext uri="{FF2B5EF4-FFF2-40B4-BE49-F238E27FC236}">
                <a16:creationId xmlns:a16="http://schemas.microsoft.com/office/drawing/2014/main" id="{784DEBCD-18E1-A357-3C63-7B7A14F68749}"/>
              </a:ext>
            </a:extLst>
          </p:cNvPr>
          <p:cNvGrpSpPr/>
          <p:nvPr/>
        </p:nvGrpSpPr>
        <p:grpSpPr>
          <a:xfrm>
            <a:off x="7863840" y="4846320"/>
            <a:ext cx="3776472" cy="1124712"/>
            <a:chOff x="7863840" y="4846320"/>
            <a:chExt cx="3776472" cy="1124712"/>
          </a:xfrm>
        </p:grpSpPr>
        <p:sp>
          <p:nvSpPr>
            <p:cNvPr id="12" name="s3_nota_bg"/>
            <p:cNvSpPr/>
            <p:nvPr/>
          </p:nvSpPr>
          <p:spPr>
            <a:xfrm>
              <a:off x="7863840" y="4846320"/>
              <a:ext cx="3776472" cy="1124712"/>
            </a:xfrm>
            <a:prstGeom prst="roundRect">
              <a:avLst>
                <a:gd name="adj" fmla="val 6504"/>
              </a:avLst>
            </a:prstGeom>
            <a:solidFill>
              <a:schemeClr val="accent3">
                <a:alpha val="18000"/>
              </a:schemeClr>
            </a:solidFill>
            <a:ln/>
          </p:spPr>
        </p:sp>
        <p:pic>
          <p:nvPicPr>
            <p:cNvPr id="13" name="s3_nota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8432" y="4983480"/>
              <a:ext cx="365760" cy="365760"/>
            </a:xfrm>
            <a:prstGeom prst="rect">
              <a:avLst/>
            </a:prstGeom>
          </p:spPr>
        </p:pic>
        <p:sp>
          <p:nvSpPr>
            <p:cNvPr id="14" name="s3_nota_tx"/>
            <p:cNvSpPr txBox="1"/>
            <p:nvPr/>
          </p:nvSpPr>
          <p:spPr>
            <a:xfrm>
              <a:off x="8522208" y="4956048"/>
              <a:ext cx="2999232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A área a adubar é a mesma nos dois cenários. O cenário muda só o produto: vinhaça + 46-00-00 ou 16-00-20.</a:t>
              </a:r>
              <a:endParaRPr lang="en-US" sz="1300" dirty="0"/>
            </a:p>
          </p:txBody>
        </p:sp>
      </p:grpSp>
      <p:sp>
        <p:nvSpPr>
          <p:cNvPr id="15" name="s3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1.000ha, quadro 3: E40 (área de tratos), F40 e F36 (adubado), G39/A45 (cana bisada), H40 (a adubar).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4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category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NECESSIDADE POR PRODUTO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16-00-20 responde por 98% da necessidade restante</a:t>
            </a:r>
            <a:endParaRPr lang="en-US" sz="3000" dirty="0"/>
          </a:p>
        </p:txBody>
      </p:sp>
      <p:sp>
        <p:nvSpPr>
          <p:cNvPr id="4" name="s4_cap"/>
          <p:cNvSpPr txBox="1"/>
          <p:nvPr/>
        </p:nvSpPr>
        <p:spPr>
          <a:xfrm>
            <a:off x="548640" y="14813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Necessidade restante por fórmula (t)</a:t>
            </a:r>
            <a:endParaRPr lang="en-US" sz="1400" dirty="0"/>
          </a:p>
        </p:txBody>
      </p:sp>
      <p:graphicFrame>
        <p:nvGraphicFramePr>
          <p:cNvPr id="5" name="s4_graf"/>
          <p:cNvGraphicFramePr/>
          <p:nvPr/>
        </p:nvGraphicFramePr>
        <p:xfrm>
          <a:off x="548640" y="1810512"/>
          <a:ext cx="66751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3" name="s4_p0">
            <a:extLst>
              <a:ext uri="{FF2B5EF4-FFF2-40B4-BE49-F238E27FC236}">
                <a16:creationId xmlns:a16="http://schemas.microsoft.com/office/drawing/2014/main" id="{4542D1B2-C015-FAD8-0D26-91D09C9E5E4C}"/>
              </a:ext>
            </a:extLst>
          </p:cNvPr>
          <p:cNvGrpSpPr/>
          <p:nvPr/>
        </p:nvGrpSpPr>
        <p:grpSpPr>
          <a:xfrm>
            <a:off x="548640" y="4983480"/>
            <a:ext cx="3291840" cy="731520"/>
            <a:chOff x="548640" y="4983480"/>
            <a:chExt cx="3291840" cy="731520"/>
          </a:xfrm>
        </p:grpSpPr>
        <p:sp>
          <p:nvSpPr>
            <p:cNvPr id="6" name="s4_p0_v"/>
            <p:cNvSpPr txBox="1"/>
            <p:nvPr/>
          </p:nvSpPr>
          <p:spPr>
            <a:xfrm>
              <a:off x="548640" y="4983480"/>
              <a:ext cx="1600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accent1"/>
                  </a:solidFill>
                </a:rPr>
                <a:t>97,9%</a:t>
              </a:r>
              <a:endParaRPr lang="en-US" sz="3200" dirty="0"/>
            </a:p>
          </p:txBody>
        </p:sp>
        <p:sp>
          <p:nvSpPr>
            <p:cNvPr id="7" name="s4_p0_t"/>
            <p:cNvSpPr txBox="1"/>
            <p:nvPr/>
          </p:nvSpPr>
          <p:spPr>
            <a:xfrm>
              <a:off x="2194560" y="5029200"/>
              <a:ext cx="1645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do volume é 16-00-20 no cenário A</a:t>
              </a:r>
              <a:endParaRPr lang="en-US" sz="1300" dirty="0"/>
            </a:p>
          </p:txBody>
        </p:sp>
      </p:grpSp>
      <p:grpSp>
        <p:nvGrpSpPr>
          <p:cNvPr id="24" name="s4_p1">
            <a:extLst>
              <a:ext uri="{FF2B5EF4-FFF2-40B4-BE49-F238E27FC236}">
                <a16:creationId xmlns:a16="http://schemas.microsoft.com/office/drawing/2014/main" id="{5E36A4C2-65B1-0D04-01E2-12B8B4B963AE}"/>
              </a:ext>
            </a:extLst>
          </p:cNvPr>
          <p:cNvGrpSpPr/>
          <p:nvPr/>
        </p:nvGrpSpPr>
        <p:grpSpPr>
          <a:xfrm>
            <a:off x="3931920" y="4983480"/>
            <a:ext cx="3291840" cy="731520"/>
            <a:chOff x="3931920" y="4983480"/>
            <a:chExt cx="3291840" cy="731520"/>
          </a:xfrm>
        </p:grpSpPr>
        <p:sp>
          <p:nvSpPr>
            <p:cNvPr id="8" name="s4_p1_v"/>
            <p:cNvSpPr txBox="1"/>
            <p:nvPr/>
          </p:nvSpPr>
          <p:spPr>
            <a:xfrm>
              <a:off x="3931920" y="4983480"/>
              <a:ext cx="160020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accent1"/>
                  </a:solidFill>
                </a:rPr>
                <a:t>100%</a:t>
              </a:r>
              <a:endParaRPr lang="en-US" sz="3200" dirty="0"/>
            </a:p>
          </p:txBody>
        </p:sp>
        <p:sp>
          <p:nvSpPr>
            <p:cNvPr id="9" name="s4_p1_t"/>
            <p:cNvSpPr txBox="1"/>
            <p:nvPr/>
          </p:nvSpPr>
          <p:spPr>
            <a:xfrm>
              <a:off x="5577840" y="5029200"/>
              <a:ext cx="164592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no cenário B, sem localizada na CRV</a:t>
              </a:r>
              <a:endParaRPr lang="en-US" sz="1300" dirty="0"/>
            </a:p>
          </p:txBody>
        </p:sp>
      </p:grpSp>
      <p:grpSp>
        <p:nvGrpSpPr>
          <p:cNvPr id="26" name="s4_prod0">
            <a:extLst>
              <a:ext uri="{FF2B5EF4-FFF2-40B4-BE49-F238E27FC236}">
                <a16:creationId xmlns:a16="http://schemas.microsoft.com/office/drawing/2014/main" id="{0CBA8F35-8F2E-3411-96DB-BC32E5A3735E}"/>
              </a:ext>
            </a:extLst>
          </p:cNvPr>
          <p:cNvGrpSpPr/>
          <p:nvPr/>
        </p:nvGrpSpPr>
        <p:grpSpPr>
          <a:xfrm>
            <a:off x="7589520" y="1481328"/>
            <a:ext cx="4050792" cy="2103120"/>
            <a:chOff x="7589520" y="1481328"/>
            <a:chExt cx="4050792" cy="2103120"/>
          </a:xfrm>
        </p:grpSpPr>
        <p:sp>
          <p:nvSpPr>
            <p:cNvPr id="10" name="s4_prod0_bg"/>
            <p:cNvSpPr/>
            <p:nvPr/>
          </p:nvSpPr>
          <p:spPr>
            <a:xfrm>
              <a:off x="7589520" y="1481328"/>
              <a:ext cx="4050792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11" name="s4_prod0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1682496"/>
              <a:ext cx="502920" cy="502920"/>
            </a:xfrm>
            <a:prstGeom prst="rect">
              <a:avLst/>
            </a:prstGeom>
          </p:spPr>
        </p:pic>
        <p:sp>
          <p:nvSpPr>
            <p:cNvPr id="12" name="s4_prod0_n"/>
            <p:cNvSpPr txBox="1"/>
            <p:nvPr/>
          </p:nvSpPr>
          <p:spPr>
            <a:xfrm>
              <a:off x="8430768" y="1682496"/>
              <a:ext cx="3017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tx2"/>
                  </a:solidFill>
                </a:rPr>
                <a:t>16-00-20</a:t>
              </a:r>
              <a:endParaRPr lang="en-US" sz="2200" dirty="0"/>
            </a:p>
          </p:txBody>
        </p:sp>
        <p:sp>
          <p:nvSpPr>
            <p:cNvPr id="13" name="s4_prod0_d"/>
            <p:cNvSpPr txBox="1"/>
            <p:nvPr/>
          </p:nvSpPr>
          <p:spPr>
            <a:xfrm>
              <a:off x="7772400" y="2258568"/>
              <a:ext cx="37033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Fórmula NK para as áreas sem vinhaça localizada</a:t>
              </a:r>
              <a:endParaRPr lang="en-US" sz="1300" dirty="0"/>
            </a:p>
          </p:txBody>
        </p:sp>
        <p:sp>
          <p:nvSpPr>
            <p:cNvPr id="14" name="s4_prod0_dose"/>
            <p:cNvSpPr txBox="1"/>
            <p:nvPr/>
          </p:nvSpPr>
          <p:spPr>
            <a:xfrm>
              <a:off x="7772400" y="2825496"/>
              <a:ext cx="3703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Dose média 500 kg/ha · 80 kg de N + 100 kg de K₂O</a:t>
              </a:r>
              <a:endParaRPr lang="en-US" sz="1200" dirty="0"/>
            </a:p>
          </p:txBody>
        </p:sp>
        <p:sp>
          <p:nvSpPr>
            <p:cNvPr id="15" name="s4_prod0_v"/>
            <p:cNvSpPr txBox="1"/>
            <p:nvPr/>
          </p:nvSpPr>
          <p:spPr>
            <a:xfrm>
              <a:off x="7772400" y="3172968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1"/>
                  </a:solidFill>
                </a:rPr>
                <a:t>A: 5.422 t  ·  B: 5.706 t</a:t>
              </a:r>
              <a:endParaRPr lang="en-US" sz="1500" dirty="0"/>
            </a:p>
          </p:txBody>
        </p:sp>
      </p:grpSp>
      <p:grpSp>
        <p:nvGrpSpPr>
          <p:cNvPr id="27" name="s4_prod1">
            <a:extLst>
              <a:ext uri="{FF2B5EF4-FFF2-40B4-BE49-F238E27FC236}">
                <a16:creationId xmlns:a16="http://schemas.microsoft.com/office/drawing/2014/main" id="{1C19C96E-0807-CE47-D818-D07A6BEEC9B6}"/>
              </a:ext>
            </a:extLst>
          </p:cNvPr>
          <p:cNvGrpSpPr/>
          <p:nvPr/>
        </p:nvGrpSpPr>
        <p:grpSpPr>
          <a:xfrm>
            <a:off x="7589520" y="3749040"/>
            <a:ext cx="4050792" cy="2103120"/>
            <a:chOff x="7589520" y="3749040"/>
            <a:chExt cx="4050792" cy="2103120"/>
          </a:xfrm>
        </p:grpSpPr>
        <p:sp>
          <p:nvSpPr>
            <p:cNvPr id="16" name="s4_prod1_bg"/>
            <p:cNvSpPr/>
            <p:nvPr/>
          </p:nvSpPr>
          <p:spPr>
            <a:xfrm>
              <a:off x="7589520" y="3749040"/>
              <a:ext cx="4050792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17" name="s4_prod1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0" y="3950208"/>
              <a:ext cx="502920" cy="502920"/>
            </a:xfrm>
            <a:prstGeom prst="rect">
              <a:avLst/>
            </a:prstGeom>
          </p:spPr>
        </p:pic>
        <p:sp>
          <p:nvSpPr>
            <p:cNvPr id="18" name="s4_prod1_n"/>
            <p:cNvSpPr txBox="1"/>
            <p:nvPr/>
          </p:nvSpPr>
          <p:spPr>
            <a:xfrm>
              <a:off x="8430768" y="3950208"/>
              <a:ext cx="30175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tx2"/>
                  </a:solidFill>
                </a:rPr>
                <a:t>46-00-00</a:t>
              </a:r>
              <a:endParaRPr lang="en-US" sz="2200" dirty="0"/>
            </a:p>
          </p:txBody>
        </p:sp>
        <p:sp>
          <p:nvSpPr>
            <p:cNvPr id="19" name="s4_prod1_d"/>
            <p:cNvSpPr txBox="1"/>
            <p:nvPr/>
          </p:nvSpPr>
          <p:spPr>
            <a:xfrm>
              <a:off x="7772400" y="4526280"/>
              <a:ext cx="37033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Fonte de N nas áreas com vinhaça localizada — o K vem da vinhaça</a:t>
              </a:r>
              <a:endParaRPr lang="en-US" sz="1300" dirty="0"/>
            </a:p>
          </p:txBody>
        </p:sp>
        <p:sp>
          <p:nvSpPr>
            <p:cNvPr id="20" name="s4_prod1_dose"/>
            <p:cNvSpPr txBox="1"/>
            <p:nvPr/>
          </p:nvSpPr>
          <p:spPr>
            <a:xfrm>
              <a:off x="7772400" y="5093208"/>
              <a:ext cx="3703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Dose média 200 kg/ha · 92 kg de N</a:t>
              </a:r>
              <a:endParaRPr lang="en-US" sz="1200" dirty="0"/>
            </a:p>
          </p:txBody>
        </p:sp>
        <p:sp>
          <p:nvSpPr>
            <p:cNvPr id="21" name="s4_prod1_v"/>
            <p:cNvSpPr txBox="1"/>
            <p:nvPr/>
          </p:nvSpPr>
          <p:spPr>
            <a:xfrm>
              <a:off x="7772400" y="5440680"/>
              <a:ext cx="370332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accent1"/>
                  </a:solidFill>
                </a:rPr>
                <a:t>A: 114 t  ·  B: 0 t</a:t>
              </a:r>
              <a:endParaRPr lang="en-US" sz="1500" dirty="0"/>
            </a:p>
          </p:txBody>
        </p:sp>
      </p:grpSp>
      <p:sp>
        <p:nvSpPr>
          <p:cNvPr id="22" name="s4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 e LOC. 450ha: K38:K39 e B50:B51. Demais fórmulas em estoque não têm necessidade calculada na planilha.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5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5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5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series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NECESSIDADE POR OPERAÇÃO E UNIDADE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Adubação mineral cobre 91% a 96% da área restante</a:t>
            </a:r>
            <a:endParaRPr lang="en-US" sz="3000" dirty="0"/>
          </a:p>
        </p:txBody>
      </p:sp>
      <p:sp>
        <p:nvSpPr>
          <p:cNvPr id="4" name="s5_cap"/>
          <p:cNvSpPr txBox="1"/>
          <p:nvPr/>
        </p:nvSpPr>
        <p:spPr>
          <a:xfrm>
            <a:off x="5486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Área a adubar por operação (ha)</a:t>
            </a:r>
            <a:endParaRPr lang="en-US" sz="1400" dirty="0"/>
          </a:p>
        </p:txBody>
      </p:sp>
      <p:graphicFrame>
        <p:nvGraphicFramePr>
          <p:cNvPr id="5" name="s5_graf"/>
          <p:cNvGraphicFramePr/>
          <p:nvPr/>
        </p:nvGraphicFramePr>
        <p:xfrm>
          <a:off x="548640" y="1783080"/>
          <a:ext cx="11091672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s5_ta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Operação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Unidade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Fertilizante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Dose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Área A (ha)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Volume A (t)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Área B (ha)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Volume B (t)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Vinhaça localizada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Cargill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sem fertilizante na planilha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446,63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446,63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Vinhaça localizada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CRV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46-00-00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200 kg/ha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568,97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113,8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0,00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Fertilizante mineral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CRV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16-00-20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500 kg/ha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10.843,67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5.421,8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11.412,64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5.706,3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11.859,27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5.535,6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11.859,27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5.706,3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s5_nota">
            <a:extLst>
              <a:ext uri="{FF2B5EF4-FFF2-40B4-BE49-F238E27FC236}">
                <a16:creationId xmlns:a16="http://schemas.microsoft.com/office/drawing/2014/main" id="{8EB02D09-490B-B4DF-D66A-DBE7447242E3}"/>
              </a:ext>
            </a:extLst>
          </p:cNvPr>
          <p:cNvGrpSpPr/>
          <p:nvPr/>
        </p:nvGrpSpPr>
        <p:grpSpPr>
          <a:xfrm>
            <a:off x="548640" y="5559552"/>
            <a:ext cx="11064240" cy="438912"/>
            <a:chOff x="548640" y="5559552"/>
            <a:chExt cx="11064240" cy="438912"/>
          </a:xfrm>
        </p:grpSpPr>
        <p:pic>
          <p:nvPicPr>
            <p:cNvPr id="7" name="s5_nota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5596128"/>
              <a:ext cx="329184" cy="329184"/>
            </a:xfrm>
            <a:prstGeom prst="rect">
              <a:avLst/>
            </a:prstGeom>
          </p:spPr>
        </p:pic>
        <p:sp>
          <p:nvSpPr>
            <p:cNvPr id="8" name="s5_nota_tx"/>
            <p:cNvSpPr txBox="1"/>
            <p:nvPr/>
          </p:nvSpPr>
          <p:spPr>
            <a:xfrm>
              <a:off x="1005840" y="5559552"/>
              <a:ext cx="106070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accent6"/>
                  </a:solidFill>
                </a:rPr>
                <a:t>Sem detalhe por fazenda ou bloco: a área à colher da CRV soma 11.593 + 9.354 + 8.779 ha sem identificação. A logística por frente depende desse detalhe.</a:t>
              </a:r>
              <a:endParaRPr lang="en-US" sz="1300" dirty="0"/>
            </a:p>
          </p:txBody>
        </p:sp>
      </p:grpSp>
      <p:sp>
        <p:nvSpPr>
          <p:cNvPr id="9" name="s5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 e LOC. 450ha, quadro 3: H36, H38:H40, I38:K39.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6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category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RELAÇÃO ENTRE ÁREA E CONSUMO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hectare com vinhaça poupa 500 kg de 16-00-20</a:t>
            </a:r>
            <a:endParaRPr lang="en-US" sz="3000" dirty="0"/>
          </a:p>
        </p:txBody>
      </p:sp>
      <p:sp>
        <p:nvSpPr>
          <p:cNvPr id="4" name="s6_cap"/>
          <p:cNvSpPr txBox="1"/>
          <p:nvPr/>
        </p:nvSpPr>
        <p:spPr>
          <a:xfrm>
            <a:off x="548640" y="148132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Nutrientes entregues por hectare (kg/ha)</a:t>
            </a:r>
            <a:endParaRPr lang="en-US" sz="1400" dirty="0"/>
          </a:p>
        </p:txBody>
      </p:sp>
      <p:graphicFrame>
        <p:nvGraphicFramePr>
          <p:cNvPr id="5" name="s6_graf"/>
          <p:cNvGraphicFramePr/>
          <p:nvPr/>
        </p:nvGraphicFramePr>
        <p:xfrm>
          <a:off x="548640" y="1810512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6_obs"/>
          <p:cNvSpPr txBox="1"/>
          <p:nvPr/>
        </p:nvSpPr>
        <p:spPr>
          <a:xfrm>
            <a:off x="548640" y="5440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No 46-00-00, o K₂O vem da vinhaça localizada — o teor de K da vinhaça não consta na planilha.</a:t>
            </a:r>
            <a:endParaRPr lang="en-US" sz="1200" dirty="0"/>
          </a:p>
        </p:txBody>
      </p:sp>
      <p:grpSp>
        <p:nvGrpSpPr>
          <p:cNvPr id="23" name="s6_troca">
            <a:extLst>
              <a:ext uri="{FF2B5EF4-FFF2-40B4-BE49-F238E27FC236}">
                <a16:creationId xmlns:a16="http://schemas.microsoft.com/office/drawing/2014/main" id="{91C37952-AAE1-B09E-648C-98E7393CDEF9}"/>
              </a:ext>
            </a:extLst>
          </p:cNvPr>
          <p:cNvGrpSpPr/>
          <p:nvPr/>
        </p:nvGrpSpPr>
        <p:grpSpPr>
          <a:xfrm>
            <a:off x="6720840" y="1481328"/>
            <a:ext cx="4919472" cy="2130552"/>
            <a:chOff x="6720840" y="1481328"/>
            <a:chExt cx="4919472" cy="2130552"/>
          </a:xfrm>
        </p:grpSpPr>
        <p:sp>
          <p:nvSpPr>
            <p:cNvPr id="7" name="s6_troca_t"/>
            <p:cNvSpPr txBox="1"/>
            <p:nvPr/>
          </p:nvSpPr>
          <p:spPr>
            <a:xfrm>
              <a:off x="6720840" y="1481328"/>
              <a:ext cx="4919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Troca por hectare levado à vinhaça localizada</a:t>
              </a:r>
              <a:endParaRPr lang="en-US" sz="1600" dirty="0"/>
            </a:p>
          </p:txBody>
        </p:sp>
        <p:sp>
          <p:nvSpPr>
            <p:cNvPr id="8" name="s6_tr0_v"/>
            <p:cNvSpPr txBox="1"/>
            <p:nvPr/>
          </p:nvSpPr>
          <p:spPr>
            <a:xfrm>
              <a:off x="6720840" y="1901952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4"/>
                  </a:solidFill>
                </a:rPr>
                <a:t>−500 kg</a:t>
              </a:r>
              <a:endParaRPr lang="en-US" sz="2400" dirty="0"/>
            </a:p>
          </p:txBody>
        </p:sp>
        <p:sp>
          <p:nvSpPr>
            <p:cNvPr id="9" name="s6_tr0_t"/>
            <p:cNvSpPr txBox="1"/>
            <p:nvPr/>
          </p:nvSpPr>
          <p:spPr>
            <a:xfrm>
              <a:off x="8366760" y="1901952"/>
              <a:ext cx="327355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de 16-00-20, o produto em falta</a:t>
              </a:r>
              <a:endParaRPr lang="en-US" sz="1400" dirty="0"/>
            </a:p>
          </p:txBody>
        </p:sp>
        <p:sp>
          <p:nvSpPr>
            <p:cNvPr id="10" name="s6_tr1_v"/>
            <p:cNvSpPr txBox="1"/>
            <p:nvPr/>
          </p:nvSpPr>
          <p:spPr>
            <a:xfrm>
              <a:off x="6720840" y="2505456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5"/>
                  </a:solidFill>
                </a:rPr>
                <a:t>+200 kg</a:t>
              </a:r>
              <a:endParaRPr lang="en-US" sz="2400" dirty="0"/>
            </a:p>
          </p:txBody>
        </p:sp>
        <p:sp>
          <p:nvSpPr>
            <p:cNvPr id="11" name="s6_tr1_t"/>
            <p:cNvSpPr txBox="1"/>
            <p:nvPr/>
          </p:nvSpPr>
          <p:spPr>
            <a:xfrm>
              <a:off x="8366760" y="2505456"/>
              <a:ext cx="327355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de 46-00-00, que já sobra no estoque</a:t>
              </a:r>
              <a:endParaRPr lang="en-US" sz="1400" dirty="0"/>
            </a:p>
          </p:txBody>
        </p:sp>
        <p:sp>
          <p:nvSpPr>
            <p:cNvPr id="12" name="s6_tr2_v"/>
            <p:cNvSpPr txBox="1"/>
            <p:nvPr/>
          </p:nvSpPr>
          <p:spPr>
            <a:xfrm>
              <a:off x="6720840" y="3108960"/>
              <a:ext cx="1600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1"/>
                  </a:solidFill>
                </a:rPr>
                <a:t>−300 kg</a:t>
              </a:r>
              <a:endParaRPr lang="en-US" sz="2400" dirty="0"/>
            </a:p>
          </p:txBody>
        </p:sp>
        <p:sp>
          <p:nvSpPr>
            <p:cNvPr id="13" name="s6_tr2_t"/>
            <p:cNvSpPr txBox="1"/>
            <p:nvPr/>
          </p:nvSpPr>
          <p:spPr>
            <a:xfrm>
              <a:off x="8366760" y="3108960"/>
              <a:ext cx="327355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tx1"/>
                  </a:solidFill>
                </a:rPr>
                <a:t>de produto comercial por hectare</a:t>
              </a:r>
              <a:endParaRPr lang="en-US" sz="1400" dirty="0"/>
            </a:p>
          </p:txBody>
        </p:sp>
      </p:grpSp>
      <p:grpSp>
        <p:nvGrpSpPr>
          <p:cNvPr id="24" name="s6_nut">
            <a:extLst>
              <a:ext uri="{FF2B5EF4-FFF2-40B4-BE49-F238E27FC236}">
                <a16:creationId xmlns:a16="http://schemas.microsoft.com/office/drawing/2014/main" id="{DD0411CF-DAF1-DBB7-ABDF-21394F7917CD}"/>
              </a:ext>
            </a:extLst>
          </p:cNvPr>
          <p:cNvGrpSpPr/>
          <p:nvPr/>
        </p:nvGrpSpPr>
        <p:grpSpPr>
          <a:xfrm>
            <a:off x="6720840" y="3840480"/>
            <a:ext cx="4919472" cy="1435608"/>
            <a:chOff x="6720840" y="3840480"/>
            <a:chExt cx="4919472" cy="1435608"/>
          </a:xfrm>
        </p:grpSpPr>
        <p:sp>
          <p:nvSpPr>
            <p:cNvPr id="14" name="s6_nut_t"/>
            <p:cNvSpPr txBox="1"/>
            <p:nvPr/>
          </p:nvSpPr>
          <p:spPr>
            <a:xfrm>
              <a:off x="6720840" y="3840480"/>
              <a:ext cx="491947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Nutrientes da necessidade restante (cenário A)</a:t>
              </a:r>
              <a:endParaRPr lang="en-US" sz="1600" dirty="0"/>
            </a:p>
          </p:txBody>
        </p:sp>
        <p:sp>
          <p:nvSpPr>
            <p:cNvPr id="15" name="s6_nut0_bg"/>
            <p:cNvSpPr/>
            <p:nvPr/>
          </p:nvSpPr>
          <p:spPr>
            <a:xfrm>
              <a:off x="6720840" y="4224528"/>
              <a:ext cx="2377440" cy="1051560"/>
            </a:xfrm>
            <a:prstGeom prst="roundRect">
              <a:avLst>
                <a:gd name="adj" fmla="val 6957"/>
              </a:avLst>
            </a:prstGeom>
            <a:solidFill>
              <a:schemeClr val="bg2"/>
            </a:solidFill>
            <a:ln/>
          </p:spPr>
        </p:sp>
        <p:sp>
          <p:nvSpPr>
            <p:cNvPr id="16" name="s6_nut0_v"/>
            <p:cNvSpPr txBox="1"/>
            <p:nvPr/>
          </p:nvSpPr>
          <p:spPr>
            <a:xfrm>
              <a:off x="6885432" y="4315968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chemeClr val="tx2"/>
                  </a:solidFill>
                </a:rPr>
                <a:t>920</a:t>
              </a:r>
              <a:r>
                <a:rPr lang="en-US" sz="1400" b="1" dirty="0">
                  <a:solidFill>
                    <a:schemeClr val="tx2"/>
                  </a:solidFill>
                </a:rPr>
                <a:t> t de N</a:t>
              </a:r>
              <a:endParaRPr lang="en-US" sz="1400" dirty="0"/>
            </a:p>
          </p:txBody>
        </p:sp>
        <p:sp>
          <p:nvSpPr>
            <p:cNvPr id="17" name="s6_nut0_s"/>
            <p:cNvSpPr txBox="1"/>
            <p:nvPr/>
          </p:nvSpPr>
          <p:spPr>
            <a:xfrm>
              <a:off x="6885432" y="4800600"/>
              <a:ext cx="2103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913 t no cenário B</a:t>
              </a:r>
              <a:endParaRPr lang="en-US" sz="1200" dirty="0"/>
            </a:p>
          </p:txBody>
        </p:sp>
        <p:sp>
          <p:nvSpPr>
            <p:cNvPr id="18" name="s6_nut1_bg"/>
            <p:cNvSpPr/>
            <p:nvPr/>
          </p:nvSpPr>
          <p:spPr>
            <a:xfrm>
              <a:off x="9262872" y="4224528"/>
              <a:ext cx="2377440" cy="1051560"/>
            </a:xfrm>
            <a:prstGeom prst="roundRect">
              <a:avLst>
                <a:gd name="adj" fmla="val 6957"/>
              </a:avLst>
            </a:prstGeom>
            <a:solidFill>
              <a:schemeClr val="bg2"/>
            </a:solidFill>
            <a:ln/>
          </p:spPr>
        </p:sp>
        <p:sp>
          <p:nvSpPr>
            <p:cNvPr id="19" name="s6_nut1_v"/>
            <p:cNvSpPr txBox="1"/>
            <p:nvPr/>
          </p:nvSpPr>
          <p:spPr>
            <a:xfrm>
              <a:off x="9427464" y="4315968"/>
              <a:ext cx="21031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chemeClr val="tx2"/>
                  </a:solidFill>
                </a:rPr>
                <a:t>1.084</a:t>
              </a:r>
              <a:r>
                <a:rPr lang="en-US" sz="1400" b="1" dirty="0">
                  <a:solidFill>
                    <a:schemeClr val="tx2"/>
                  </a:solidFill>
                </a:rPr>
                <a:t> t de K₂O</a:t>
              </a:r>
              <a:endParaRPr lang="en-US" sz="1400" dirty="0"/>
            </a:p>
          </p:txBody>
        </p:sp>
        <p:sp>
          <p:nvSpPr>
            <p:cNvPr id="20" name="s6_nut1_s"/>
            <p:cNvSpPr txBox="1"/>
            <p:nvPr/>
          </p:nvSpPr>
          <p:spPr>
            <a:xfrm>
              <a:off x="9427464" y="4800600"/>
              <a:ext cx="21031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1.141 t no cenário B</a:t>
              </a:r>
              <a:endParaRPr lang="en-US" sz="1200" dirty="0"/>
            </a:p>
          </p:txBody>
        </p:sp>
      </p:grpSp>
      <p:sp>
        <p:nvSpPr>
          <p:cNvPr id="21" name="s6_real"/>
          <p:cNvSpPr txBox="1"/>
          <p:nvPr/>
        </p:nvSpPr>
        <p:spPr>
          <a:xfrm>
            <a:off x="6720840" y="5413248"/>
            <a:ext cx="4919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Já aplicado com vinhaça localizada: 640 t de 46-00-00 em 3.201 ha (36 fazendas) e 1.063 t de 16-00-20 em 2.127 ha (25 fazendas).</a:t>
            </a:r>
            <a:endParaRPr lang="en-US" sz="1200" dirty="0"/>
          </a:p>
        </p:txBody>
      </p:sp>
      <p:sp>
        <p:nvSpPr>
          <p:cNvPr id="22" name="s6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doses J38:J39; consumo realizado nas linhas 27–28 (E27:E28). Teores pela garantia da fórmula (N-P₂O₅-K₂O, %).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2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category"/>
        </p:bldSub>
      </p:bldGraphic>
      <p:bldP spid="6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DISTRIBUIÇÃO NO TEMPO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Toda a demanda restante cai em 60 dias de safra</a:t>
            </a:r>
            <a:endParaRPr lang="en-US" sz="3000" dirty="0"/>
          </a:p>
        </p:txBody>
      </p:sp>
      <p:sp>
        <p:nvSpPr>
          <p:cNvPr id="4" name="s7_eixo"/>
          <p:cNvSpPr/>
          <p:nvPr/>
        </p:nvSpPr>
        <p:spPr>
          <a:xfrm>
            <a:off x="914400" y="2103120"/>
            <a:ext cx="103327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</a:ln>
        </p:spPr>
      </p:sp>
      <p:grpSp>
        <p:nvGrpSpPr>
          <p:cNvPr id="34" name="s7_m0">
            <a:extLst>
              <a:ext uri="{FF2B5EF4-FFF2-40B4-BE49-F238E27FC236}">
                <a16:creationId xmlns:a16="http://schemas.microsoft.com/office/drawing/2014/main" id="{63D5A009-6185-884F-69D3-DF5F839DA030}"/>
              </a:ext>
            </a:extLst>
          </p:cNvPr>
          <p:cNvGrpSpPr/>
          <p:nvPr/>
        </p:nvGrpSpPr>
        <p:grpSpPr>
          <a:xfrm>
            <a:off x="786384" y="1463040"/>
            <a:ext cx="2286000" cy="1435608"/>
            <a:chOff x="786384" y="1463040"/>
            <a:chExt cx="2286000" cy="1435608"/>
          </a:xfrm>
        </p:grpSpPr>
        <p:sp>
          <p:nvSpPr>
            <p:cNvPr id="5" name="s7_m0_d"/>
            <p:cNvSpPr txBox="1"/>
            <p:nvPr/>
          </p:nvSpPr>
          <p:spPr>
            <a:xfrm>
              <a:off x="786384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chemeClr val="tx2"/>
                  </a:solidFill>
                </a:rPr>
                <a:t>16/10</a:t>
              </a:r>
              <a:endParaRPr lang="en-US" sz="1800" dirty="0"/>
            </a:p>
          </p:txBody>
        </p:sp>
        <p:sp>
          <p:nvSpPr>
            <p:cNvPr id="6" name="s7_m0_p"/>
            <p:cNvSpPr/>
            <p:nvPr/>
          </p:nvSpPr>
          <p:spPr>
            <a:xfrm>
              <a:off x="786384" y="1975104"/>
              <a:ext cx="256032" cy="25603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7" name="s7_m0_t"/>
            <p:cNvSpPr txBox="1"/>
            <p:nvPr/>
          </p:nvSpPr>
          <p:spPr>
            <a:xfrm>
              <a:off x="786384" y="2331720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Posição de estoque e áreas</a:t>
              </a:r>
              <a:endParaRPr lang="en-US" sz="1300" dirty="0"/>
            </a:p>
          </p:txBody>
        </p:sp>
      </p:grpSp>
      <p:grpSp>
        <p:nvGrpSpPr>
          <p:cNvPr id="35" name="s7_m1">
            <a:extLst>
              <a:ext uri="{FF2B5EF4-FFF2-40B4-BE49-F238E27FC236}">
                <a16:creationId xmlns:a16="http://schemas.microsoft.com/office/drawing/2014/main" id="{70B9F90A-5DA1-280D-5E70-9272F9DFD29B}"/>
              </a:ext>
            </a:extLst>
          </p:cNvPr>
          <p:cNvGrpSpPr/>
          <p:nvPr/>
        </p:nvGrpSpPr>
        <p:grpSpPr>
          <a:xfrm>
            <a:off x="3215640" y="1463040"/>
            <a:ext cx="2286000" cy="1435608"/>
            <a:chOff x="3215640" y="1463040"/>
            <a:chExt cx="2286000" cy="1435608"/>
          </a:xfrm>
        </p:grpSpPr>
        <p:sp>
          <p:nvSpPr>
            <p:cNvPr id="8" name="s7_m1_d"/>
            <p:cNvSpPr txBox="1"/>
            <p:nvPr/>
          </p:nvSpPr>
          <p:spPr>
            <a:xfrm>
              <a:off x="3215640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tx2"/>
                  </a:solidFill>
                </a:rPr>
                <a:t>~05/11</a:t>
              </a:r>
              <a:endParaRPr lang="en-US" sz="1800" dirty="0"/>
            </a:p>
          </p:txBody>
        </p:sp>
        <p:sp>
          <p:nvSpPr>
            <p:cNvPr id="9" name="s7_m1_p"/>
            <p:cNvSpPr/>
            <p:nvPr/>
          </p:nvSpPr>
          <p:spPr>
            <a:xfrm>
              <a:off x="4230624" y="1975104"/>
              <a:ext cx="256032" cy="25603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0" name="s7_m1_t"/>
            <p:cNvSpPr txBox="1"/>
            <p:nvPr/>
          </p:nvSpPr>
          <p:spPr>
            <a:xfrm>
              <a:off x="3215640" y="2331720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Fim dos 20 dias de vinhaça com K adequado (cenário A)</a:t>
              </a:r>
              <a:endParaRPr lang="en-US" sz="1300" dirty="0"/>
            </a:p>
          </p:txBody>
        </p:sp>
      </p:grpSp>
      <p:grpSp>
        <p:nvGrpSpPr>
          <p:cNvPr id="36" name="s7_m2">
            <a:extLst>
              <a:ext uri="{FF2B5EF4-FFF2-40B4-BE49-F238E27FC236}">
                <a16:creationId xmlns:a16="http://schemas.microsoft.com/office/drawing/2014/main" id="{0285AEA7-84B6-40A9-3B2C-D8190E180F7E}"/>
              </a:ext>
            </a:extLst>
          </p:cNvPr>
          <p:cNvGrpSpPr/>
          <p:nvPr/>
        </p:nvGrpSpPr>
        <p:grpSpPr>
          <a:xfrm>
            <a:off x="7520940" y="1463040"/>
            <a:ext cx="2286000" cy="1435608"/>
            <a:chOff x="7520940" y="1463040"/>
            <a:chExt cx="2286000" cy="1435608"/>
          </a:xfrm>
        </p:grpSpPr>
        <p:sp>
          <p:nvSpPr>
            <p:cNvPr id="11" name="s7_m2_d"/>
            <p:cNvSpPr txBox="1"/>
            <p:nvPr/>
          </p:nvSpPr>
          <p:spPr>
            <a:xfrm>
              <a:off x="7520940" y="1463040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chemeClr val="tx2"/>
                  </a:solidFill>
                </a:rPr>
                <a:t>30/11</a:t>
              </a:r>
              <a:endParaRPr lang="en-US" sz="1800" dirty="0"/>
            </a:p>
          </p:txBody>
        </p:sp>
        <p:sp>
          <p:nvSpPr>
            <p:cNvPr id="12" name="s7_m2_p"/>
            <p:cNvSpPr/>
            <p:nvPr/>
          </p:nvSpPr>
          <p:spPr>
            <a:xfrm>
              <a:off x="8535924" y="1975104"/>
              <a:ext cx="256032" cy="256032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3" name="s7_m2_t"/>
            <p:cNvSpPr txBox="1"/>
            <p:nvPr/>
          </p:nvSpPr>
          <p:spPr>
            <a:xfrm>
              <a:off x="7520940" y="2331720"/>
              <a:ext cx="22860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Data limite da vinhaça localizada</a:t>
              </a:r>
              <a:endParaRPr lang="en-US" sz="1300" dirty="0"/>
            </a:p>
          </p:txBody>
        </p:sp>
      </p:grpSp>
      <p:grpSp>
        <p:nvGrpSpPr>
          <p:cNvPr id="37" name="s7_m3">
            <a:extLst>
              <a:ext uri="{FF2B5EF4-FFF2-40B4-BE49-F238E27FC236}">
                <a16:creationId xmlns:a16="http://schemas.microsoft.com/office/drawing/2014/main" id="{4A054754-608E-0A01-8F64-3E15D3AB68D5}"/>
              </a:ext>
            </a:extLst>
          </p:cNvPr>
          <p:cNvGrpSpPr/>
          <p:nvPr/>
        </p:nvGrpSpPr>
        <p:grpSpPr>
          <a:xfrm>
            <a:off x="9820656" y="1463040"/>
            <a:ext cx="1554480" cy="1435608"/>
            <a:chOff x="9820656" y="1463040"/>
            <a:chExt cx="1554480" cy="1435608"/>
          </a:xfrm>
        </p:grpSpPr>
        <p:sp>
          <p:nvSpPr>
            <p:cNvPr id="14" name="s7_m3_d"/>
            <p:cNvSpPr txBox="1"/>
            <p:nvPr/>
          </p:nvSpPr>
          <p:spPr>
            <a:xfrm>
              <a:off x="9820656" y="1463040"/>
              <a:ext cx="1554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r">
                <a:buNone/>
              </a:pPr>
              <a:r>
                <a:rPr lang="en-US" sz="1800" b="1" dirty="0">
                  <a:solidFill>
                    <a:schemeClr val="tx2"/>
                  </a:solidFill>
                </a:rPr>
                <a:t>15/12</a:t>
              </a:r>
              <a:endParaRPr lang="en-US" sz="1800" dirty="0"/>
            </a:p>
          </p:txBody>
        </p:sp>
        <p:sp>
          <p:nvSpPr>
            <p:cNvPr id="15" name="s7_m3_p"/>
            <p:cNvSpPr/>
            <p:nvPr/>
          </p:nvSpPr>
          <p:spPr>
            <a:xfrm>
              <a:off x="11119104" y="1975104"/>
              <a:ext cx="256032" cy="256032"/>
            </a:xfrm>
            <a:prstGeom prst="ellipse">
              <a:avLst/>
            </a:prstGeom>
            <a:solidFill>
              <a:schemeClr val="accent4"/>
            </a:solidFill>
            <a:ln w="25400">
              <a:solidFill>
                <a:srgbClr val="FFFFFF"/>
              </a:solidFill>
              <a:prstDash val="solid"/>
            </a:ln>
          </p:spPr>
        </p:sp>
        <p:sp>
          <p:nvSpPr>
            <p:cNvPr id="16" name="s7_m3_t"/>
            <p:cNvSpPr txBox="1"/>
            <p:nvPr/>
          </p:nvSpPr>
          <p:spPr>
            <a:xfrm>
              <a:off x="9820656" y="2331720"/>
              <a:ext cx="1554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Término da safra</a:t>
              </a:r>
              <a:endParaRPr lang="en-US" sz="1300" dirty="0"/>
            </a:p>
          </p:txBody>
        </p:sp>
      </p:grpSp>
      <p:grpSp>
        <p:nvGrpSpPr>
          <p:cNvPr id="38" name="s7_f0">
            <a:extLst>
              <a:ext uri="{FF2B5EF4-FFF2-40B4-BE49-F238E27FC236}">
                <a16:creationId xmlns:a16="http://schemas.microsoft.com/office/drawing/2014/main" id="{7FABE6E2-F44D-2476-9EF8-0902CBA1BC82}"/>
              </a:ext>
            </a:extLst>
          </p:cNvPr>
          <p:cNvGrpSpPr/>
          <p:nvPr/>
        </p:nvGrpSpPr>
        <p:grpSpPr>
          <a:xfrm>
            <a:off x="914400" y="3154680"/>
            <a:ext cx="3444240" cy="347472"/>
            <a:chOff x="914400" y="3154680"/>
            <a:chExt cx="3444240" cy="347472"/>
          </a:xfrm>
        </p:grpSpPr>
        <p:sp>
          <p:nvSpPr>
            <p:cNvPr id="17" name="s7_f0_bg"/>
            <p:cNvSpPr/>
            <p:nvPr/>
          </p:nvSpPr>
          <p:spPr>
            <a:xfrm>
              <a:off x="914400" y="3154680"/>
              <a:ext cx="3444240" cy="347472"/>
            </a:xfrm>
            <a:prstGeom prst="roundRect">
              <a:avLst>
                <a:gd name="adj" fmla="val 13158"/>
              </a:avLst>
            </a:prstGeom>
            <a:solidFill>
              <a:schemeClr val="accent5"/>
            </a:solidFill>
            <a:ln/>
          </p:spPr>
        </p:sp>
        <p:sp>
          <p:nvSpPr>
            <p:cNvPr id="18" name="s7_f0_t"/>
            <p:cNvSpPr txBox="1"/>
            <p:nvPr/>
          </p:nvSpPr>
          <p:spPr>
            <a:xfrm>
              <a:off x="1024128" y="3154680"/>
              <a:ext cx="32613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Localizada (A): 1.016 ha = 50,78 ha/dia × 20 dias</a:t>
              </a:r>
              <a:endParaRPr lang="en-US" sz="1200" dirty="0"/>
            </a:p>
          </p:txBody>
        </p:sp>
      </p:grpSp>
      <p:grpSp>
        <p:nvGrpSpPr>
          <p:cNvPr id="39" name="s7_f1">
            <a:extLst>
              <a:ext uri="{FF2B5EF4-FFF2-40B4-BE49-F238E27FC236}">
                <a16:creationId xmlns:a16="http://schemas.microsoft.com/office/drawing/2014/main" id="{74678482-ABBF-EE6D-8F6B-57234A8A9E01}"/>
              </a:ext>
            </a:extLst>
          </p:cNvPr>
          <p:cNvGrpSpPr/>
          <p:nvPr/>
        </p:nvGrpSpPr>
        <p:grpSpPr>
          <a:xfrm>
            <a:off x="914400" y="3593592"/>
            <a:ext cx="7749540" cy="347472"/>
            <a:chOff x="914400" y="3593592"/>
            <a:chExt cx="7749540" cy="347472"/>
          </a:xfrm>
        </p:grpSpPr>
        <p:sp>
          <p:nvSpPr>
            <p:cNvPr id="19" name="s7_f1_bg"/>
            <p:cNvSpPr/>
            <p:nvPr/>
          </p:nvSpPr>
          <p:spPr>
            <a:xfrm>
              <a:off x="914400" y="3593592"/>
              <a:ext cx="7749540" cy="347472"/>
            </a:xfrm>
            <a:prstGeom prst="roundRect">
              <a:avLst>
                <a:gd name="adj" fmla="val 13158"/>
              </a:avLst>
            </a:prstGeom>
            <a:solidFill>
              <a:schemeClr val="accent5">
                <a:alpha val="15000"/>
              </a:schemeClr>
            </a:solidFill>
            <a:ln w="12700">
              <a:solidFill>
                <a:schemeClr val="accent5"/>
              </a:solidFill>
              <a:prstDash val="dash"/>
            </a:ln>
          </p:spPr>
        </p:sp>
        <p:sp>
          <p:nvSpPr>
            <p:cNvPr id="20" name="s7_f1_t"/>
            <p:cNvSpPr txBox="1"/>
            <p:nvPr/>
          </p:nvSpPr>
          <p:spPr>
            <a:xfrm>
              <a:off x="1024128" y="3593592"/>
              <a:ext cx="756666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5"/>
                  </a:solidFill>
                </a:rPr>
                <a:t>Prazo da vinhaça localizada: até 30/11 (45 dias)</a:t>
              </a:r>
              <a:endParaRPr lang="en-US" sz="1200" dirty="0"/>
            </a:p>
          </p:txBody>
        </p:sp>
      </p:grpSp>
      <p:grpSp>
        <p:nvGrpSpPr>
          <p:cNvPr id="40" name="s7_f2">
            <a:extLst>
              <a:ext uri="{FF2B5EF4-FFF2-40B4-BE49-F238E27FC236}">
                <a16:creationId xmlns:a16="http://schemas.microsoft.com/office/drawing/2014/main" id="{FAA18D75-9D5A-B5AF-F324-B8D3F1788D74}"/>
              </a:ext>
            </a:extLst>
          </p:cNvPr>
          <p:cNvGrpSpPr/>
          <p:nvPr/>
        </p:nvGrpSpPr>
        <p:grpSpPr>
          <a:xfrm>
            <a:off x="914400" y="4032504"/>
            <a:ext cx="10332720" cy="347472"/>
            <a:chOff x="914400" y="4032504"/>
            <a:chExt cx="10332720" cy="347472"/>
          </a:xfrm>
        </p:grpSpPr>
        <p:sp>
          <p:nvSpPr>
            <p:cNvPr id="21" name="s7_f2_bg"/>
            <p:cNvSpPr/>
            <p:nvPr/>
          </p:nvSpPr>
          <p:spPr>
            <a:xfrm>
              <a:off x="914400" y="4032504"/>
              <a:ext cx="10332720" cy="347472"/>
            </a:xfrm>
            <a:prstGeom prst="roundRect">
              <a:avLst>
                <a:gd name="adj" fmla="val 13158"/>
              </a:avLst>
            </a:prstGeom>
            <a:solidFill>
              <a:schemeClr val="accent1"/>
            </a:solidFill>
            <a:ln/>
          </p:spPr>
        </p:sp>
        <p:sp>
          <p:nvSpPr>
            <p:cNvPr id="22" name="s7_f2_t"/>
            <p:cNvSpPr txBox="1"/>
            <p:nvPr/>
          </p:nvSpPr>
          <p:spPr>
            <a:xfrm>
              <a:off x="1024128" y="4032504"/>
              <a:ext cx="1014984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bg1"/>
                  </a:solidFill>
                </a:rPr>
                <a:t>Adubação mineral com 16-00-20: 10.844 ha (A) ou 11.413 ha (B) — ritmo não informado na planilha</a:t>
              </a:r>
              <a:endParaRPr lang="en-US" sz="1200" dirty="0"/>
            </a:p>
          </p:txBody>
        </p:sp>
      </p:grpSp>
      <p:grpSp>
        <p:nvGrpSpPr>
          <p:cNvPr id="41" name="s7_c0">
            <a:extLst>
              <a:ext uri="{FF2B5EF4-FFF2-40B4-BE49-F238E27FC236}">
                <a16:creationId xmlns:a16="http://schemas.microsoft.com/office/drawing/2014/main" id="{39A58F97-CC44-398F-F02E-1D9344AB16B7}"/>
              </a:ext>
            </a:extLst>
          </p:cNvPr>
          <p:cNvGrpSpPr/>
          <p:nvPr/>
        </p:nvGrpSpPr>
        <p:grpSpPr>
          <a:xfrm>
            <a:off x="548640" y="4709160"/>
            <a:ext cx="3538728" cy="1261872"/>
            <a:chOff x="548640" y="4709160"/>
            <a:chExt cx="3538728" cy="1261872"/>
          </a:xfrm>
        </p:grpSpPr>
        <p:sp>
          <p:nvSpPr>
            <p:cNvPr id="23" name="s7_c0_bg"/>
            <p:cNvSpPr/>
            <p:nvPr/>
          </p:nvSpPr>
          <p:spPr>
            <a:xfrm>
              <a:off x="548640" y="4709160"/>
              <a:ext cx="3538728" cy="1261872"/>
            </a:xfrm>
            <a:prstGeom prst="roundRect">
              <a:avLst>
                <a:gd name="adj" fmla="val 5797"/>
              </a:avLst>
            </a:prstGeom>
            <a:solidFill>
              <a:schemeClr val="bg2"/>
            </a:solidFill>
            <a:ln/>
          </p:spPr>
        </p:sp>
        <p:sp>
          <p:nvSpPr>
            <p:cNvPr id="24" name="s7_c0_v"/>
            <p:cNvSpPr txBox="1"/>
            <p:nvPr/>
          </p:nvSpPr>
          <p:spPr>
            <a:xfrm>
              <a:off x="749808" y="4818888"/>
              <a:ext cx="3154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198 ha/dia</a:t>
              </a:r>
              <a:endParaRPr lang="en-US" sz="2400" dirty="0"/>
            </a:p>
          </p:txBody>
        </p:sp>
        <p:sp>
          <p:nvSpPr>
            <p:cNvPr id="25" name="s7_c0_t"/>
            <p:cNvSpPr txBox="1"/>
            <p:nvPr/>
          </p:nvSpPr>
          <p:spPr>
            <a:xfrm>
              <a:off x="749808" y="5303520"/>
              <a:ext cx="315468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ritmo médio para adubar os 11.859 ha até 15/12 (referência, não meta da planilha)</a:t>
              </a:r>
              <a:endParaRPr lang="en-US" sz="1200" dirty="0"/>
            </a:p>
          </p:txBody>
        </p:sp>
      </p:grpSp>
      <p:grpSp>
        <p:nvGrpSpPr>
          <p:cNvPr id="42" name="s7_c1">
            <a:extLst>
              <a:ext uri="{FF2B5EF4-FFF2-40B4-BE49-F238E27FC236}">
                <a16:creationId xmlns:a16="http://schemas.microsoft.com/office/drawing/2014/main" id="{F9A78A73-D34A-1555-E96A-FA7224A991C9}"/>
              </a:ext>
            </a:extLst>
          </p:cNvPr>
          <p:cNvGrpSpPr/>
          <p:nvPr/>
        </p:nvGrpSpPr>
        <p:grpSpPr>
          <a:xfrm>
            <a:off x="4325112" y="4709160"/>
            <a:ext cx="3538728" cy="1261872"/>
            <a:chOff x="4325112" y="4709160"/>
            <a:chExt cx="3538728" cy="1261872"/>
          </a:xfrm>
        </p:grpSpPr>
        <p:sp>
          <p:nvSpPr>
            <p:cNvPr id="26" name="s7_c1_bg"/>
            <p:cNvSpPr/>
            <p:nvPr/>
          </p:nvSpPr>
          <p:spPr>
            <a:xfrm>
              <a:off x="4325112" y="4709160"/>
              <a:ext cx="3538728" cy="1261872"/>
            </a:xfrm>
            <a:prstGeom prst="roundRect">
              <a:avLst>
                <a:gd name="adj" fmla="val 5797"/>
              </a:avLst>
            </a:prstGeom>
            <a:solidFill>
              <a:schemeClr val="bg2"/>
            </a:solidFill>
            <a:ln/>
          </p:spPr>
        </p:sp>
        <p:sp>
          <p:nvSpPr>
            <p:cNvPr id="27" name="s7_c1_v"/>
            <p:cNvSpPr txBox="1"/>
            <p:nvPr/>
          </p:nvSpPr>
          <p:spPr>
            <a:xfrm>
              <a:off x="4526280" y="4818888"/>
              <a:ext cx="3154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50,78 ha/dia</a:t>
              </a:r>
              <a:endParaRPr lang="en-US" sz="2400" dirty="0"/>
            </a:p>
          </p:txBody>
        </p:sp>
        <p:sp>
          <p:nvSpPr>
            <p:cNvPr id="28" name="s7_c1_t"/>
            <p:cNvSpPr txBox="1"/>
            <p:nvPr/>
          </p:nvSpPr>
          <p:spPr>
            <a:xfrm>
              <a:off x="4526280" y="5303520"/>
              <a:ext cx="315468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ritmo da vinhaça localizada, média atingida em setembro</a:t>
              </a:r>
              <a:endParaRPr lang="en-US" sz="1200" dirty="0"/>
            </a:p>
          </p:txBody>
        </p:sp>
      </p:grpSp>
      <p:grpSp>
        <p:nvGrpSpPr>
          <p:cNvPr id="43" name="s7_c2">
            <a:extLst>
              <a:ext uri="{FF2B5EF4-FFF2-40B4-BE49-F238E27FC236}">
                <a16:creationId xmlns:a16="http://schemas.microsoft.com/office/drawing/2014/main" id="{1531D12B-1E5F-6F59-8BBA-8E53AD0C31E3}"/>
              </a:ext>
            </a:extLst>
          </p:cNvPr>
          <p:cNvGrpSpPr/>
          <p:nvPr/>
        </p:nvGrpSpPr>
        <p:grpSpPr>
          <a:xfrm>
            <a:off x="8101584" y="4709160"/>
            <a:ext cx="3538728" cy="1261872"/>
            <a:chOff x="8101584" y="4709160"/>
            <a:chExt cx="3538728" cy="1261872"/>
          </a:xfrm>
        </p:grpSpPr>
        <p:sp>
          <p:nvSpPr>
            <p:cNvPr id="29" name="s7_c2_bg"/>
            <p:cNvSpPr/>
            <p:nvPr/>
          </p:nvSpPr>
          <p:spPr>
            <a:xfrm>
              <a:off x="8101584" y="4709160"/>
              <a:ext cx="3538728" cy="1261872"/>
            </a:xfrm>
            <a:prstGeom prst="roundRect">
              <a:avLst>
                <a:gd name="adj" fmla="val 5797"/>
              </a:avLst>
            </a:prstGeom>
            <a:solidFill>
              <a:schemeClr val="bg2"/>
            </a:solidFill>
            <a:ln/>
          </p:spPr>
        </p:sp>
        <p:sp>
          <p:nvSpPr>
            <p:cNvPr id="30" name="s7_c2_v"/>
            <p:cNvSpPr txBox="1"/>
            <p:nvPr/>
          </p:nvSpPr>
          <p:spPr>
            <a:xfrm>
              <a:off x="8302752" y="4818888"/>
              <a:ext cx="31546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6"/>
                  </a:solidFill>
                </a:rPr>
                <a:t>Sem dado mensal</a:t>
              </a:r>
              <a:endParaRPr lang="en-US" sz="2400" dirty="0"/>
            </a:p>
          </p:txBody>
        </p:sp>
        <p:sp>
          <p:nvSpPr>
            <p:cNvPr id="31" name="s7_c2_t"/>
            <p:cNvSpPr txBox="1"/>
            <p:nvPr/>
          </p:nvSpPr>
          <p:spPr>
            <a:xfrm>
              <a:off x="8302752" y="5303520"/>
              <a:ext cx="315468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a planilha não distribui a demanda por mês; é preciso a programação de colheita</a:t>
              </a:r>
              <a:endParaRPr lang="en-US" sz="1200" dirty="0"/>
            </a:p>
          </p:txBody>
        </p:sp>
      </p:grpSp>
      <p:sp>
        <p:nvSpPr>
          <p:cNvPr id="32" name="s7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1.000ha, quadro 1: A10:C14 (datas, dias, ritmo de 50,78 ha/dia e 20 dias de K adequado).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5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9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9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4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8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CURVA DE ABASTECIMENTO · 16-00-20 · CENÁRIO 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16-00-20 disponível se esgota por volta de 20/11</a:t>
            </a:r>
            <a:endParaRPr lang="en-US" sz="3000" dirty="0"/>
          </a:p>
        </p:txBody>
      </p:sp>
      <p:sp>
        <p:nvSpPr>
          <p:cNvPr id="4" name="s8_cap"/>
          <p:cNvSpPr txBox="1"/>
          <p:nvPr/>
        </p:nvSpPr>
        <p:spPr>
          <a:xfrm>
            <a:off x="548640" y="14813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Necessidade acumulada × disponível de 16-00-20 (t)</a:t>
            </a:r>
            <a:endParaRPr lang="en-US" sz="1400" dirty="0"/>
          </a:p>
        </p:txBody>
      </p:sp>
      <p:graphicFrame>
        <p:nvGraphicFramePr>
          <p:cNvPr id="5" name="s8_graf"/>
          <p:cNvGraphicFramePr/>
          <p:nvPr/>
        </p:nvGraphicFramePr>
        <p:xfrm>
          <a:off x="548640" y="1810512"/>
          <a:ext cx="7498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7" name="s8_c0">
            <a:extLst>
              <a:ext uri="{FF2B5EF4-FFF2-40B4-BE49-F238E27FC236}">
                <a16:creationId xmlns:a16="http://schemas.microsoft.com/office/drawing/2014/main" id="{AB0AE021-A989-4EBB-D99F-DBDD69560085}"/>
              </a:ext>
            </a:extLst>
          </p:cNvPr>
          <p:cNvGrpSpPr/>
          <p:nvPr/>
        </p:nvGrpSpPr>
        <p:grpSpPr>
          <a:xfrm>
            <a:off x="8366760" y="1481328"/>
            <a:ext cx="3273552" cy="1207008"/>
            <a:chOff x="8366760" y="1481328"/>
            <a:chExt cx="3273552" cy="1207008"/>
          </a:xfrm>
        </p:grpSpPr>
        <p:sp>
          <p:nvSpPr>
            <p:cNvPr id="6" name="s8_c0_bg"/>
            <p:cNvSpPr/>
            <p:nvPr/>
          </p:nvSpPr>
          <p:spPr>
            <a:xfrm>
              <a:off x="8366760" y="1481328"/>
              <a:ext cx="3273552" cy="1207008"/>
            </a:xfrm>
            <a:prstGeom prst="roundRect">
              <a:avLst>
                <a:gd name="adj" fmla="val 6061"/>
              </a:avLst>
            </a:prstGeom>
            <a:solidFill>
              <a:schemeClr val="bg2"/>
            </a:solidFill>
            <a:ln/>
          </p:spPr>
        </p:sp>
        <p:sp>
          <p:nvSpPr>
            <p:cNvPr id="7" name="s8_c0_v"/>
            <p:cNvSpPr txBox="1"/>
            <p:nvPr/>
          </p:nvSpPr>
          <p:spPr>
            <a:xfrm>
              <a:off x="8549640" y="1591056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chemeClr val="tx2"/>
                  </a:solidFill>
                </a:rPr>
                <a:t>~28/10</a:t>
              </a:r>
              <a:endParaRPr lang="en-US" sz="2600" dirty="0"/>
            </a:p>
          </p:txBody>
        </p:sp>
        <p:sp>
          <p:nvSpPr>
            <p:cNvPr id="8" name="s8_c0_t"/>
            <p:cNvSpPr txBox="1"/>
            <p:nvPr/>
          </p:nvSpPr>
          <p:spPr>
            <a:xfrm>
              <a:off x="8549640" y="2066544"/>
              <a:ext cx="2971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acaba o estoque atual de 1.132 t (cerca de 12,5 dias de consumo)</a:t>
              </a:r>
              <a:endParaRPr lang="en-US" sz="1200" dirty="0"/>
            </a:p>
          </p:txBody>
        </p:sp>
      </p:grpSp>
      <p:grpSp>
        <p:nvGrpSpPr>
          <p:cNvPr id="18" name="s8_c1">
            <a:extLst>
              <a:ext uri="{FF2B5EF4-FFF2-40B4-BE49-F238E27FC236}">
                <a16:creationId xmlns:a16="http://schemas.microsoft.com/office/drawing/2014/main" id="{7E832E37-FDBE-037A-073A-D9190889907F}"/>
              </a:ext>
            </a:extLst>
          </p:cNvPr>
          <p:cNvGrpSpPr/>
          <p:nvPr/>
        </p:nvGrpSpPr>
        <p:grpSpPr>
          <a:xfrm>
            <a:off x="8366760" y="2825496"/>
            <a:ext cx="3273552" cy="1207008"/>
            <a:chOff x="8366760" y="2825496"/>
            <a:chExt cx="3273552" cy="1207008"/>
          </a:xfrm>
        </p:grpSpPr>
        <p:sp>
          <p:nvSpPr>
            <p:cNvPr id="9" name="s8_c1_bg"/>
            <p:cNvSpPr/>
            <p:nvPr/>
          </p:nvSpPr>
          <p:spPr>
            <a:xfrm>
              <a:off x="8366760" y="2825496"/>
              <a:ext cx="3273552" cy="1207008"/>
            </a:xfrm>
            <a:prstGeom prst="roundRect">
              <a:avLst>
                <a:gd name="adj" fmla="val 6061"/>
              </a:avLst>
            </a:prstGeom>
            <a:solidFill>
              <a:schemeClr val="bg2"/>
            </a:solidFill>
            <a:ln/>
          </p:spPr>
        </p:sp>
        <p:sp>
          <p:nvSpPr>
            <p:cNvPr id="10" name="s8_c1_v"/>
            <p:cNvSpPr txBox="1"/>
            <p:nvPr/>
          </p:nvSpPr>
          <p:spPr>
            <a:xfrm>
              <a:off x="8549640" y="2935224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chemeClr val="tx2"/>
                  </a:solidFill>
                </a:rPr>
                <a:t>~20/11</a:t>
              </a:r>
              <a:endParaRPr lang="en-US" sz="2600" dirty="0"/>
            </a:p>
          </p:txBody>
        </p:sp>
        <p:sp>
          <p:nvSpPr>
            <p:cNvPr id="11" name="s8_c1_t"/>
            <p:cNvSpPr txBox="1"/>
            <p:nvPr/>
          </p:nvSpPr>
          <p:spPr>
            <a:xfrm>
              <a:off x="8549640" y="3410712"/>
              <a:ext cx="2971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acaba o disponível (3.162 t), se as 2.030 t a receber chegarem até lá</a:t>
              </a:r>
              <a:endParaRPr lang="en-US" sz="1200" dirty="0"/>
            </a:p>
          </p:txBody>
        </p:sp>
      </p:grpSp>
      <p:grpSp>
        <p:nvGrpSpPr>
          <p:cNvPr id="19" name="s8_c2">
            <a:extLst>
              <a:ext uri="{FF2B5EF4-FFF2-40B4-BE49-F238E27FC236}">
                <a16:creationId xmlns:a16="http://schemas.microsoft.com/office/drawing/2014/main" id="{0BF7547C-D342-1971-73EE-BACE9530A327}"/>
              </a:ext>
            </a:extLst>
          </p:cNvPr>
          <p:cNvGrpSpPr/>
          <p:nvPr/>
        </p:nvGrpSpPr>
        <p:grpSpPr>
          <a:xfrm>
            <a:off x="8366760" y="4169664"/>
            <a:ext cx="3273552" cy="1207008"/>
            <a:chOff x="8366760" y="4169664"/>
            <a:chExt cx="3273552" cy="1207008"/>
          </a:xfrm>
        </p:grpSpPr>
        <p:sp>
          <p:nvSpPr>
            <p:cNvPr id="12" name="s8_c2_bg"/>
            <p:cNvSpPr/>
            <p:nvPr/>
          </p:nvSpPr>
          <p:spPr>
            <a:xfrm>
              <a:off x="8366760" y="4169664"/>
              <a:ext cx="3273552" cy="1207008"/>
            </a:xfrm>
            <a:prstGeom prst="roundRect">
              <a:avLst>
                <a:gd name="adj" fmla="val 6061"/>
              </a:avLst>
            </a:prstGeom>
            <a:solidFill>
              <a:schemeClr val="accent4">
                <a:alpha val="12000"/>
              </a:schemeClr>
            </a:solidFill>
            <a:ln/>
          </p:spPr>
        </p:sp>
        <p:sp>
          <p:nvSpPr>
            <p:cNvPr id="13" name="s8_c2_v"/>
            <p:cNvSpPr txBox="1"/>
            <p:nvPr/>
          </p:nvSpPr>
          <p:spPr>
            <a:xfrm>
              <a:off x="8549640" y="4279392"/>
              <a:ext cx="292608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chemeClr val="accent4"/>
                  </a:solidFill>
                </a:rPr>
                <a:t>2.260 t</a:t>
              </a:r>
              <a:endParaRPr lang="en-US" sz="2600" dirty="0"/>
            </a:p>
          </p:txBody>
        </p:sp>
        <p:sp>
          <p:nvSpPr>
            <p:cNvPr id="14" name="s8_c2_t"/>
            <p:cNvSpPr txBox="1"/>
            <p:nvPr/>
          </p:nvSpPr>
          <p:spPr>
            <a:xfrm>
              <a:off x="8549640" y="4754880"/>
              <a:ext cx="2971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precisam chegar antes de ~20/11, descontado o prazo do fornecedor (não informado)</a:t>
              </a:r>
              <a:endParaRPr lang="en-US" sz="1200" dirty="0"/>
            </a:p>
          </p:txBody>
        </p:sp>
      </p:grpSp>
      <p:sp>
        <p:nvSpPr>
          <p:cNvPr id="15" name="s8_prem"/>
          <p:cNvSpPr txBox="1"/>
          <p:nvPr/>
        </p:nvSpPr>
        <p:spPr>
          <a:xfrm>
            <a:off x="548640" y="5532120"/>
            <a:ext cx="11091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Premissa ilustrativa: 5.421,8 t aplicadas por igual em 60 dias (90,4 t/dia). A curva real depende da programação de colheita e do ritmo de aplicação, que não estão na planilha. No cenário B, as datas antecipam para ~27/10 e ~18/11.</a:t>
            </a:r>
            <a:endParaRPr lang="en-US" sz="1200" dirty="0"/>
          </a:p>
        </p:txBody>
      </p:sp>
      <p:sp>
        <p:nvSpPr>
          <p:cNvPr id="16" name="s8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1.000ha: K39 (necessidade), C51 (estoque), D51 (comprado a receber), C11 (dias até o término da safra).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AsOne/>
      </p:bldGraphic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ESTOQUE EM 16/10/2026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Estoque de 2.600 t: 62% em fórmulas de socaria</a:t>
            </a:r>
            <a:endParaRPr lang="en-US" sz="3000" dirty="0"/>
          </a:p>
        </p:txBody>
      </p:sp>
      <p:sp>
        <p:nvSpPr>
          <p:cNvPr id="4" name="s9_cap"/>
          <p:cNvSpPr txBox="1"/>
          <p:nvPr/>
        </p:nvSpPr>
        <p:spPr>
          <a:xfrm>
            <a:off x="548640" y="148132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Estoque por fórmula (t)</a:t>
            </a:r>
            <a:endParaRPr lang="en-US" sz="1400" dirty="0"/>
          </a:p>
        </p:txBody>
      </p:sp>
      <p:graphicFrame>
        <p:nvGraphicFramePr>
          <p:cNvPr id="5" name="s9_graf"/>
          <p:cNvGraphicFramePr/>
          <p:nvPr/>
        </p:nvGraphicFramePr>
        <p:xfrm>
          <a:off x="548640" y="1783080"/>
          <a:ext cx="68580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7" name="s9_leg">
            <a:extLst>
              <a:ext uri="{FF2B5EF4-FFF2-40B4-BE49-F238E27FC236}">
                <a16:creationId xmlns:a16="http://schemas.microsoft.com/office/drawing/2014/main" id="{ADEFA17F-CBA8-AF43-94F6-4C793100CFDB}"/>
              </a:ext>
            </a:extLst>
          </p:cNvPr>
          <p:cNvGrpSpPr/>
          <p:nvPr/>
        </p:nvGrpSpPr>
        <p:grpSpPr>
          <a:xfrm>
            <a:off x="548640" y="5669280"/>
            <a:ext cx="4279392" cy="274320"/>
            <a:chOff x="548640" y="5669280"/>
            <a:chExt cx="4279392" cy="274320"/>
          </a:xfrm>
        </p:grpSpPr>
        <p:sp>
          <p:nvSpPr>
            <p:cNvPr id="6" name="s9_leg_q0"/>
            <p:cNvSpPr/>
            <p:nvPr/>
          </p:nvSpPr>
          <p:spPr>
            <a:xfrm>
              <a:off x="548640" y="5724144"/>
              <a:ext cx="164592" cy="164592"/>
            </a:xfrm>
            <a:prstGeom prst="rect">
              <a:avLst/>
            </a:prstGeom>
            <a:solidFill>
              <a:srgbClr val="1F6B3A"/>
            </a:solidFill>
            <a:ln/>
          </p:spPr>
        </p:sp>
        <p:sp>
          <p:nvSpPr>
            <p:cNvPr id="7" name="s9_leg_t0"/>
            <p:cNvSpPr txBox="1"/>
            <p:nvPr/>
          </p:nvSpPr>
          <p:spPr>
            <a:xfrm>
              <a:off x="786384" y="5669280"/>
              <a:ext cx="685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Socaria</a:t>
              </a:r>
              <a:endParaRPr lang="en-US" sz="1200" dirty="0"/>
            </a:p>
          </p:txBody>
        </p:sp>
        <p:sp>
          <p:nvSpPr>
            <p:cNvPr id="8" name="s9_leg_q1"/>
            <p:cNvSpPr/>
            <p:nvPr/>
          </p:nvSpPr>
          <p:spPr>
            <a:xfrm>
              <a:off x="1700784" y="5724144"/>
              <a:ext cx="164592" cy="164592"/>
            </a:xfrm>
            <a:prstGeom prst="rect">
              <a:avLst/>
            </a:prstGeom>
            <a:solidFill>
              <a:srgbClr val="8DBE3F"/>
            </a:solidFill>
            <a:ln/>
          </p:spPr>
        </p:sp>
        <p:sp>
          <p:nvSpPr>
            <p:cNvPr id="9" name="s9_leg_t1"/>
            <p:cNvSpPr txBox="1"/>
            <p:nvPr/>
          </p:nvSpPr>
          <p:spPr>
            <a:xfrm>
              <a:off x="1938528" y="5669280"/>
              <a:ext cx="640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Plantio</a:t>
              </a:r>
              <a:endParaRPr lang="en-US" sz="1200" dirty="0"/>
            </a:p>
          </p:txBody>
        </p:sp>
        <p:sp>
          <p:nvSpPr>
            <p:cNvPr id="10" name="s9_leg_q2"/>
            <p:cNvSpPr/>
            <p:nvPr/>
          </p:nvSpPr>
          <p:spPr>
            <a:xfrm>
              <a:off x="2807208" y="5724144"/>
              <a:ext cx="164592" cy="164592"/>
            </a:xfrm>
            <a:prstGeom prst="rect">
              <a:avLst/>
            </a:prstGeom>
            <a:solidFill>
              <a:srgbClr val="A9B4AE"/>
            </a:solidFill>
            <a:ln/>
          </p:spPr>
        </p:sp>
        <p:sp>
          <p:nvSpPr>
            <p:cNvPr id="11" name="s9_leg_t2"/>
            <p:cNvSpPr txBox="1"/>
            <p:nvPr/>
          </p:nvSpPr>
          <p:spPr>
            <a:xfrm>
              <a:off x="3044952" y="566928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Sem grupo na planilha</a:t>
              </a:r>
              <a:endParaRPr lang="en-US" sz="1200" dirty="0"/>
            </a:p>
          </p:txBody>
        </p:sp>
      </p:grpSp>
      <p:grpSp>
        <p:nvGrpSpPr>
          <p:cNvPr id="28" name="s9_eq">
            <a:extLst>
              <a:ext uri="{FF2B5EF4-FFF2-40B4-BE49-F238E27FC236}">
                <a16:creationId xmlns:a16="http://schemas.microsoft.com/office/drawing/2014/main" id="{C8A605A3-E3C9-BD7D-0BAA-1141E2256D54}"/>
              </a:ext>
            </a:extLst>
          </p:cNvPr>
          <p:cNvGrpSpPr/>
          <p:nvPr/>
        </p:nvGrpSpPr>
        <p:grpSpPr>
          <a:xfrm>
            <a:off x="7772400" y="1481328"/>
            <a:ext cx="3867912" cy="2395728"/>
            <a:chOff x="7772400" y="1481328"/>
            <a:chExt cx="3867912" cy="2395728"/>
          </a:xfrm>
        </p:grpSpPr>
        <p:sp>
          <p:nvSpPr>
            <p:cNvPr id="12" name="s9_eq_t"/>
            <p:cNvSpPr txBox="1"/>
            <p:nvPr/>
          </p:nvSpPr>
          <p:spPr>
            <a:xfrm>
              <a:off x="7772400" y="1481328"/>
              <a:ext cx="3867912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Área equivalente (estoque ÷ dose implícita)</a:t>
              </a:r>
              <a:endParaRPr lang="en-US" sz="1600" dirty="0"/>
            </a:p>
          </p:txBody>
        </p:sp>
        <p:pic>
          <p:nvPicPr>
            <p:cNvPr id="13" name="s9_eq0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1956816"/>
              <a:ext cx="438912" cy="438912"/>
            </a:xfrm>
            <a:prstGeom prst="rect">
              <a:avLst/>
            </a:prstGeom>
          </p:spPr>
        </p:pic>
        <p:sp>
          <p:nvSpPr>
            <p:cNvPr id="14" name="s9_eq0_v"/>
            <p:cNvSpPr txBox="1"/>
            <p:nvPr/>
          </p:nvSpPr>
          <p:spPr>
            <a:xfrm>
              <a:off x="8339328" y="1901952"/>
              <a:ext cx="1600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4.374</a:t>
              </a:r>
              <a:r>
                <a:rPr lang="en-US" sz="1400" b="1" dirty="0">
                  <a:solidFill>
                    <a:schemeClr val="tx2"/>
                  </a:solidFill>
                </a:rPr>
                <a:t> ha</a:t>
              </a:r>
              <a:endParaRPr lang="en-US" sz="1400" dirty="0"/>
            </a:p>
          </p:txBody>
        </p:sp>
        <p:sp>
          <p:nvSpPr>
            <p:cNvPr id="15" name="s9_eq0_t"/>
            <p:cNvSpPr txBox="1"/>
            <p:nvPr/>
          </p:nvSpPr>
          <p:spPr>
            <a:xfrm>
              <a:off x="9921240" y="1901952"/>
              <a:ext cx="17190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Socaria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5 fórmulas · 1.620 t</a:t>
              </a:r>
              <a:endParaRPr lang="en-US" sz="1200" dirty="0"/>
            </a:p>
          </p:txBody>
        </p:sp>
        <p:pic>
          <p:nvPicPr>
            <p:cNvPr id="16" name="s9_eq1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0" y="2670048"/>
              <a:ext cx="438912" cy="438912"/>
            </a:xfrm>
            <a:prstGeom prst="rect">
              <a:avLst/>
            </a:prstGeom>
          </p:spPr>
        </p:pic>
        <p:sp>
          <p:nvSpPr>
            <p:cNvPr id="17" name="s9_eq1_v"/>
            <p:cNvSpPr txBox="1"/>
            <p:nvPr/>
          </p:nvSpPr>
          <p:spPr>
            <a:xfrm>
              <a:off x="8339328" y="2615184"/>
              <a:ext cx="1600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1.397</a:t>
              </a:r>
              <a:r>
                <a:rPr lang="en-US" sz="1400" b="1" dirty="0">
                  <a:solidFill>
                    <a:schemeClr val="tx2"/>
                  </a:solidFill>
                </a:rPr>
                <a:t> ha</a:t>
              </a:r>
              <a:endParaRPr lang="en-US" sz="1400" dirty="0"/>
            </a:p>
          </p:txBody>
        </p:sp>
        <p:sp>
          <p:nvSpPr>
            <p:cNvPr id="18" name="s9_eq1_t"/>
            <p:cNvSpPr txBox="1"/>
            <p:nvPr/>
          </p:nvSpPr>
          <p:spPr>
            <a:xfrm>
              <a:off x="9921240" y="2615184"/>
              <a:ext cx="17190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Plantio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4 fórmulas · 838 t</a:t>
              </a:r>
              <a:endParaRPr lang="en-US" sz="1200" dirty="0"/>
            </a:p>
          </p:txBody>
        </p:sp>
        <p:pic>
          <p:nvPicPr>
            <p:cNvPr id="19" name="s9_eq2_ic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72400" y="3383280"/>
              <a:ext cx="438912" cy="438912"/>
            </a:xfrm>
            <a:prstGeom prst="rect">
              <a:avLst/>
            </a:prstGeom>
          </p:spPr>
        </p:pic>
        <p:sp>
          <p:nvSpPr>
            <p:cNvPr id="20" name="s9_eq2_v"/>
            <p:cNvSpPr txBox="1"/>
            <p:nvPr/>
          </p:nvSpPr>
          <p:spPr>
            <a:xfrm>
              <a:off x="8339328" y="3328416"/>
              <a:ext cx="1600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284</a:t>
              </a:r>
              <a:r>
                <a:rPr lang="en-US" sz="1400" b="1" dirty="0">
                  <a:solidFill>
                    <a:schemeClr val="tx2"/>
                  </a:solidFill>
                </a:rPr>
                <a:t> ha</a:t>
              </a:r>
              <a:endParaRPr lang="en-US" sz="1400" dirty="0"/>
            </a:p>
          </p:txBody>
        </p:sp>
        <p:sp>
          <p:nvSpPr>
            <p:cNvPr id="21" name="s9_eq2_t"/>
            <p:cNvSpPr txBox="1"/>
            <p:nvPr/>
          </p:nvSpPr>
          <p:spPr>
            <a:xfrm>
              <a:off x="9921240" y="3328416"/>
              <a:ext cx="17190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Sem grupo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Oxyfertil · 142 t</a:t>
              </a:r>
              <a:endParaRPr lang="en-US" sz="1200" dirty="0"/>
            </a:p>
          </p:txBody>
        </p:sp>
      </p:grpSp>
      <p:grpSp>
        <p:nvGrpSpPr>
          <p:cNvPr id="29" name="s9_at">
            <a:extLst>
              <a:ext uri="{FF2B5EF4-FFF2-40B4-BE49-F238E27FC236}">
                <a16:creationId xmlns:a16="http://schemas.microsoft.com/office/drawing/2014/main" id="{3276566A-2CD1-2136-2143-E0ACD1C8E88D}"/>
              </a:ext>
            </a:extLst>
          </p:cNvPr>
          <p:cNvGrpSpPr/>
          <p:nvPr/>
        </p:nvGrpSpPr>
        <p:grpSpPr>
          <a:xfrm>
            <a:off x="7772400" y="4434840"/>
            <a:ext cx="3867912" cy="1371600"/>
            <a:chOff x="7772400" y="4434840"/>
            <a:chExt cx="3867912" cy="1371600"/>
          </a:xfrm>
        </p:grpSpPr>
        <p:sp>
          <p:nvSpPr>
            <p:cNvPr id="22" name="s9_at_bg"/>
            <p:cNvSpPr/>
            <p:nvPr/>
          </p:nvSpPr>
          <p:spPr>
            <a:xfrm>
              <a:off x="7772400" y="4434840"/>
              <a:ext cx="3867912" cy="1371600"/>
            </a:xfrm>
            <a:prstGeom prst="roundRect">
              <a:avLst>
                <a:gd name="adj" fmla="val 5333"/>
              </a:avLst>
            </a:prstGeom>
            <a:solidFill>
              <a:schemeClr val="accent3">
                <a:alpha val="18000"/>
              </a:schemeClr>
            </a:solidFill>
            <a:ln/>
          </p:spPr>
        </p:sp>
        <p:pic>
          <p:nvPicPr>
            <p:cNvPr id="23" name="s9_at_ic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36992" y="4572000"/>
              <a:ext cx="365760" cy="365760"/>
            </a:xfrm>
            <a:prstGeom prst="rect">
              <a:avLst/>
            </a:prstGeom>
          </p:spPr>
        </p:pic>
        <p:sp>
          <p:nvSpPr>
            <p:cNvPr id="24" name="s9_at_tx"/>
            <p:cNvSpPr txBox="1"/>
            <p:nvPr/>
          </p:nvSpPr>
          <p:spPr>
            <a:xfrm>
              <a:off x="8412480" y="4553712"/>
              <a:ext cx="3108960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Áreas não se somam: </a:t>
              </a:r>
              <a:r>
                <a:rPr lang="en-US" sz="1200" dirty="0">
                  <a:solidFill>
                    <a:schemeClr val="tx1"/>
                  </a:solidFill>
                </a:rPr>
                <a:t>os 1.785 ha do 46-00-00 só valem onde há vinhaça localizada.</a:t>
              </a:r>
              <a:endParaRPr lang="en-US" sz="1200" dirty="0"/>
            </a:p>
            <a:p>
              <a:pPr marL="0" indent="0">
                <a:spcAft>
                  <a:spcPts val="600"/>
                </a:spcAft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Plantio: </a:t>
              </a:r>
              <a:r>
                <a:rPr lang="en-US" sz="1200" dirty="0">
                  <a:solidFill>
                    <a:schemeClr val="tx1"/>
                  </a:solidFill>
                </a:rPr>
                <a:t>2.400 ha projetados × 1.397 ha cobertos; a necessidade do plantio não está calculada.</a:t>
              </a:r>
              <a:endParaRPr lang="en-US" sz="1200" dirty="0"/>
            </a:p>
          </p:txBody>
        </p:sp>
      </p:grpSp>
      <p:sp>
        <p:nvSpPr>
          <p:cNvPr id="25" name="s9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1.000ha, quadro "Estoque de fertilizantes 16/10/2026" (I47:K61) e nota A42 (plantio projetado).</a:t>
            </a:r>
            <a:endParaRPr lang="en-US" sz="10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45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9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5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"/>
                                        <p:tgtEl>
                                          <p:spTgt spid="5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5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7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50"/>
                                        <p:tgtEl>
                                          <p:spTgt spid="5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9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5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category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PLANEJAMENTO DE COMPRAS E ESTOQUE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Estoque e compras cobrem 58% do 16-00-20 necessário</a:t>
            </a:r>
            <a:endParaRPr lang="en-US" sz="3000" dirty="0"/>
          </a:p>
        </p:txBody>
      </p:sp>
      <p:sp>
        <p:nvSpPr>
          <p:cNvPr id="4" name="s10_cap"/>
          <p:cNvSpPr txBox="1"/>
          <p:nvPr/>
        </p:nvSpPr>
        <p:spPr>
          <a:xfrm>
            <a:off x="548640" y="14813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 necessidade bruta à compra líquida · 16-00-20 · cenário A (t)</a:t>
            </a:r>
            <a:endParaRPr lang="en-US" sz="1400" dirty="0"/>
          </a:p>
        </p:txBody>
      </p:sp>
      <p:graphicFrame>
        <p:nvGraphicFramePr>
          <p:cNvPr id="5" name="s10_graf"/>
          <p:cNvGraphicFramePr/>
          <p:nvPr/>
        </p:nvGraphicFramePr>
        <p:xfrm>
          <a:off x="548640" y="1810512"/>
          <a:ext cx="667512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8" name="!!compra16">
            <a:extLst>
              <a:ext uri="{FF2B5EF4-FFF2-40B4-BE49-F238E27FC236}">
                <a16:creationId xmlns:a16="http://schemas.microsoft.com/office/drawing/2014/main" id="{F7AF0B85-BAFE-669C-D966-3FE99A204945}"/>
              </a:ext>
            </a:extLst>
          </p:cNvPr>
          <p:cNvGrpSpPr/>
          <p:nvPr/>
        </p:nvGrpSpPr>
        <p:grpSpPr>
          <a:xfrm>
            <a:off x="7589520" y="1481328"/>
            <a:ext cx="4050792" cy="1417320"/>
            <a:chOff x="7589520" y="1481328"/>
            <a:chExt cx="4050792" cy="1417320"/>
          </a:xfrm>
        </p:grpSpPr>
        <p:sp>
          <p:nvSpPr>
            <p:cNvPr id="6" name="cmp_bg"/>
            <p:cNvSpPr/>
            <p:nvPr/>
          </p:nvSpPr>
          <p:spPr>
            <a:xfrm>
              <a:off x="7589520" y="1481328"/>
              <a:ext cx="4050792" cy="1417320"/>
            </a:xfrm>
            <a:prstGeom prst="roundRect">
              <a:avLst>
                <a:gd name="adj" fmla="val 5161"/>
              </a:avLst>
            </a:prstGeom>
            <a:solidFill>
              <a:schemeClr val="accent4">
                <a:alpha val="12000"/>
              </a:schemeClr>
            </a:solidFill>
            <a:ln/>
          </p:spPr>
        </p:sp>
        <p:sp>
          <p:nvSpPr>
            <p:cNvPr id="7" name="cmp_v"/>
            <p:cNvSpPr txBox="1"/>
            <p:nvPr/>
          </p:nvSpPr>
          <p:spPr>
            <a:xfrm>
              <a:off x="7790688" y="1591056"/>
              <a:ext cx="3685032" cy="637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chemeClr val="accent4"/>
                  </a:solidFill>
                </a:rPr>
                <a:t>2.260</a:t>
              </a:r>
              <a:r>
                <a:rPr lang="en-US" sz="1980" b="1" dirty="0">
                  <a:solidFill>
                    <a:schemeClr val="accent4"/>
                  </a:solidFill>
                </a:rPr>
                <a:t> t</a:t>
              </a:r>
              <a:endParaRPr lang="en-US" sz="1400" dirty="0"/>
            </a:p>
          </p:txBody>
        </p:sp>
        <p:sp>
          <p:nvSpPr>
            <p:cNvPr id="8" name="cmp_t"/>
            <p:cNvSpPr txBox="1"/>
            <p:nvPr/>
          </p:nvSpPr>
          <p:spPr>
            <a:xfrm>
              <a:off x="7790688" y="2218334"/>
              <a:ext cx="368503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de 16-00-20 a comprar no cenário A</a:t>
              </a:r>
              <a:endParaRPr lang="en-US" sz="1300" dirty="0"/>
            </a:p>
          </p:txBody>
        </p:sp>
        <p:sp>
          <p:nvSpPr>
            <p:cNvPr id="9" name="cmp_s"/>
            <p:cNvSpPr txBox="1"/>
            <p:nvPr/>
          </p:nvSpPr>
          <p:spPr>
            <a:xfrm>
              <a:off x="7790688" y="2492654"/>
              <a:ext cx="368503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2.544 t no cenário B</a:t>
              </a:r>
              <a:endParaRPr lang="en-US" sz="1200" dirty="0"/>
            </a:p>
          </p:txBody>
        </p:sp>
      </p:grpSp>
      <p:grpSp>
        <p:nvGrpSpPr>
          <p:cNvPr id="19" name="s10_46">
            <a:extLst>
              <a:ext uri="{FF2B5EF4-FFF2-40B4-BE49-F238E27FC236}">
                <a16:creationId xmlns:a16="http://schemas.microsoft.com/office/drawing/2014/main" id="{06492C55-2DE1-1722-4A3C-6652EA555327}"/>
              </a:ext>
            </a:extLst>
          </p:cNvPr>
          <p:cNvGrpSpPr/>
          <p:nvPr/>
        </p:nvGrpSpPr>
        <p:grpSpPr>
          <a:xfrm>
            <a:off x="7589520" y="3081528"/>
            <a:ext cx="4050792" cy="1920240"/>
            <a:chOff x="7589520" y="3081528"/>
            <a:chExt cx="4050792" cy="1920240"/>
          </a:xfrm>
        </p:grpSpPr>
        <p:sp>
          <p:nvSpPr>
            <p:cNvPr id="10" name="s10_46_bg"/>
            <p:cNvSpPr/>
            <p:nvPr/>
          </p:nvSpPr>
          <p:spPr>
            <a:xfrm>
              <a:off x="7589520" y="3081528"/>
              <a:ext cx="4050792" cy="1920240"/>
            </a:xfrm>
            <a:prstGeom prst="roundRect">
              <a:avLst>
                <a:gd name="adj" fmla="val 3810"/>
              </a:avLst>
            </a:prstGeom>
            <a:solidFill>
              <a:schemeClr val="bg2"/>
            </a:solidFill>
            <a:ln/>
          </p:spPr>
        </p:sp>
        <p:pic>
          <p:nvPicPr>
            <p:cNvPr id="11" name="s10_46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3218688"/>
              <a:ext cx="411480" cy="411480"/>
            </a:xfrm>
            <a:prstGeom prst="rect">
              <a:avLst/>
            </a:prstGeom>
          </p:spPr>
        </p:pic>
        <p:sp>
          <p:nvSpPr>
            <p:cNvPr id="12" name="s10_46_t"/>
            <p:cNvSpPr txBox="1"/>
            <p:nvPr/>
          </p:nvSpPr>
          <p:spPr>
            <a:xfrm>
              <a:off x="8302752" y="3218688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46-00-00 · sobra no cenário A</a:t>
              </a:r>
              <a:endParaRPr lang="en-US" sz="1600" dirty="0"/>
            </a:p>
          </p:txBody>
        </p:sp>
        <p:sp>
          <p:nvSpPr>
            <p:cNvPr id="13" name="s10_46_l"/>
            <p:cNvSpPr txBox="1"/>
            <p:nvPr/>
          </p:nvSpPr>
          <p:spPr>
            <a:xfrm>
              <a:off x="7772400" y="3721608"/>
              <a:ext cx="21031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Necessidade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Estoque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Comprado a receber</a:t>
              </a:r>
              <a:endParaRPr lang="en-US" sz="1300" dirty="0"/>
            </a:p>
          </p:txBody>
        </p:sp>
        <p:sp>
          <p:nvSpPr>
            <p:cNvPr id="14" name="s10_46_r"/>
            <p:cNvSpPr txBox="1"/>
            <p:nvPr/>
          </p:nvSpPr>
          <p:spPr>
            <a:xfrm>
              <a:off x="9875520" y="3721608"/>
              <a:ext cx="16002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113,8 t</a:t>
              </a:r>
              <a:endParaRPr lang="en-US" sz="1300" dirty="0"/>
            </a:p>
            <a:p>
              <a:pPr marL="0" indent="0" algn="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357,0 t</a:t>
              </a:r>
              <a:endParaRPr lang="en-US" sz="1300" dirty="0"/>
            </a:p>
            <a:p>
              <a:pPr marL="0" indent="0" algn="r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1.150,0 t</a:t>
              </a:r>
              <a:endParaRPr lang="en-US" sz="1300" dirty="0"/>
            </a:p>
          </p:txBody>
        </p:sp>
        <p:sp>
          <p:nvSpPr>
            <p:cNvPr id="15" name="s10_46_s"/>
            <p:cNvSpPr txBox="1"/>
            <p:nvPr/>
          </p:nvSpPr>
          <p:spPr>
            <a:xfrm>
              <a:off x="7772400" y="4526280"/>
              <a:ext cx="370332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Saldo  </a:t>
              </a:r>
              <a:r>
                <a:rPr lang="en-US" sz="2000" b="1" dirty="0">
                  <a:solidFill>
                    <a:schemeClr val="accent5"/>
                  </a:solidFill>
                </a:rPr>
                <a:t>+1.393,2 t</a:t>
              </a:r>
              <a:endParaRPr lang="en-US" sz="1400" dirty="0"/>
            </a:p>
          </p:txBody>
        </p:sp>
      </p:grpSp>
      <p:sp>
        <p:nvSpPr>
          <p:cNvPr id="16" name="s10_obs"/>
          <p:cNvSpPr txBox="1"/>
          <p:nvPr/>
        </p:nvSpPr>
        <p:spPr>
          <a:xfrm>
            <a:off x="7589520" y="5138928"/>
            <a:ext cx="40507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Compra líquida = necessidade − estoque − comprado a receber. No cenário B: 5.706,3 t de necessidade e 2.544,3 t a comprar; o 46-00-00 fica sem uso previsto (1.507,0 t).</a:t>
            </a:r>
            <a:endParaRPr lang="en-US" sz="1200" dirty="0"/>
          </a:p>
        </p:txBody>
      </p:sp>
      <p:sp>
        <p:nvSpPr>
          <p:cNvPr id="17" name="s10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 e LOC. 450ha, quadro 4 (Resumo): B50:F51 e B56 ("Necessidade de aquisição").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1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Sub>
          <a:bldChart bld="category"/>
        </p:bldSub>
      </p:bldGraphic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IMPACTO FINANCEIRO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R$ 100/t no 16-00-20 vale R$ 226 mil</a:t>
            </a:r>
            <a:endParaRPr lang="en-US" sz="3000" dirty="0"/>
          </a:p>
        </p:txBody>
      </p:sp>
      <p:grpSp>
        <p:nvGrpSpPr>
          <p:cNvPr id="44" name="!!compra16">
            <a:extLst>
              <a:ext uri="{FF2B5EF4-FFF2-40B4-BE49-F238E27FC236}">
                <a16:creationId xmlns:a16="http://schemas.microsoft.com/office/drawing/2014/main" id="{AED886F3-68DA-C398-E325-D457D22668F5}"/>
              </a:ext>
            </a:extLst>
          </p:cNvPr>
          <p:cNvGrpSpPr/>
          <p:nvPr/>
        </p:nvGrpSpPr>
        <p:grpSpPr>
          <a:xfrm>
            <a:off x="548640" y="1481328"/>
            <a:ext cx="3246120" cy="1417320"/>
            <a:chOff x="548640" y="1481328"/>
            <a:chExt cx="3246120" cy="1417320"/>
          </a:xfrm>
        </p:grpSpPr>
        <p:sp>
          <p:nvSpPr>
            <p:cNvPr id="4" name="cmp_bg"/>
            <p:cNvSpPr/>
            <p:nvPr/>
          </p:nvSpPr>
          <p:spPr>
            <a:xfrm>
              <a:off x="548640" y="1481328"/>
              <a:ext cx="3246120" cy="1417320"/>
            </a:xfrm>
            <a:prstGeom prst="roundRect">
              <a:avLst>
                <a:gd name="adj" fmla="val 5161"/>
              </a:avLst>
            </a:prstGeom>
            <a:solidFill>
              <a:schemeClr val="accent4">
                <a:alpha val="12000"/>
              </a:schemeClr>
            </a:solidFill>
            <a:ln/>
          </p:spPr>
        </p:sp>
        <p:sp>
          <p:nvSpPr>
            <p:cNvPr id="5" name="cmp_v"/>
            <p:cNvSpPr txBox="1"/>
            <p:nvPr/>
          </p:nvSpPr>
          <p:spPr>
            <a:xfrm>
              <a:off x="749808" y="1591056"/>
              <a:ext cx="2880360" cy="6377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200" b="1" dirty="0">
                  <a:solidFill>
                    <a:schemeClr val="accent4"/>
                  </a:solidFill>
                </a:rPr>
                <a:t>2.260</a:t>
              </a:r>
              <a:r>
                <a:rPr lang="en-US" sz="1760" b="1" dirty="0">
                  <a:solidFill>
                    <a:schemeClr val="accent4"/>
                  </a:solidFill>
                </a:rPr>
                <a:t> t</a:t>
              </a:r>
              <a:endParaRPr lang="en-US" sz="1400" dirty="0"/>
            </a:p>
          </p:txBody>
        </p:sp>
        <p:sp>
          <p:nvSpPr>
            <p:cNvPr id="6" name="cmp_t"/>
            <p:cNvSpPr txBox="1"/>
            <p:nvPr/>
          </p:nvSpPr>
          <p:spPr>
            <a:xfrm>
              <a:off x="749808" y="2218334"/>
              <a:ext cx="2880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tx1"/>
                  </a:solidFill>
                </a:rPr>
                <a:t>de 16-00-20 a comprar no cenário A</a:t>
              </a:r>
              <a:endParaRPr lang="en-US" sz="1300" dirty="0"/>
            </a:p>
          </p:txBody>
        </p:sp>
        <p:sp>
          <p:nvSpPr>
            <p:cNvPr id="7" name="cmp_s"/>
            <p:cNvSpPr txBox="1"/>
            <p:nvPr/>
          </p:nvSpPr>
          <p:spPr>
            <a:xfrm>
              <a:off x="749808" y="2492654"/>
              <a:ext cx="288036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2.544 t no cenário B</a:t>
              </a:r>
              <a:endParaRPr lang="en-US" sz="1200" dirty="0"/>
            </a:p>
          </p:txBody>
        </p:sp>
      </p:grpSp>
      <p:grpSp>
        <p:nvGrpSpPr>
          <p:cNvPr id="45" name="s11_formula">
            <a:extLst>
              <a:ext uri="{FF2B5EF4-FFF2-40B4-BE49-F238E27FC236}">
                <a16:creationId xmlns:a16="http://schemas.microsoft.com/office/drawing/2014/main" id="{7C09C03D-0215-E800-CE8B-35AE42799BAD}"/>
              </a:ext>
            </a:extLst>
          </p:cNvPr>
          <p:cNvGrpSpPr/>
          <p:nvPr/>
        </p:nvGrpSpPr>
        <p:grpSpPr>
          <a:xfrm>
            <a:off x="3794760" y="1481328"/>
            <a:ext cx="7845552" cy="1417320"/>
            <a:chOff x="3794760" y="1481328"/>
            <a:chExt cx="7845552" cy="1417320"/>
          </a:xfrm>
        </p:grpSpPr>
        <p:sp>
          <p:nvSpPr>
            <p:cNvPr id="8" name="s11_x"/>
            <p:cNvSpPr txBox="1"/>
            <p:nvPr/>
          </p:nvSpPr>
          <p:spPr>
            <a:xfrm>
              <a:off x="3794760" y="1481328"/>
              <a:ext cx="5029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chemeClr val="accent6"/>
                  </a:solidFill>
                </a:rPr>
                <a:t>×</a:t>
              </a:r>
              <a:endParaRPr lang="en-US" sz="3600" dirty="0"/>
            </a:p>
          </p:txBody>
        </p:sp>
        <p:sp>
          <p:nvSpPr>
            <p:cNvPr id="9" name="s11_preco_bg"/>
            <p:cNvSpPr/>
            <p:nvPr/>
          </p:nvSpPr>
          <p:spPr>
            <a:xfrm>
              <a:off x="4297680" y="1481328"/>
              <a:ext cx="3246120" cy="141732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15875">
              <a:solidFill>
                <a:schemeClr val="accent6"/>
              </a:solidFill>
              <a:prstDash val="dash"/>
            </a:ln>
          </p:spPr>
        </p:sp>
        <p:sp>
          <p:nvSpPr>
            <p:cNvPr id="10" name="s11_preco_v"/>
            <p:cNvSpPr txBox="1"/>
            <p:nvPr/>
          </p:nvSpPr>
          <p:spPr>
            <a:xfrm>
              <a:off x="4498848" y="1609344"/>
              <a:ext cx="29260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accent6"/>
                  </a:solidFill>
                </a:rPr>
                <a:t>Preço (R$/t)</a:t>
              </a:r>
              <a:endParaRPr lang="en-US" sz="2400" dirty="0"/>
            </a:p>
          </p:txBody>
        </p:sp>
        <p:sp>
          <p:nvSpPr>
            <p:cNvPr id="11" name="s11_preco_t"/>
            <p:cNvSpPr txBox="1"/>
            <p:nvPr/>
          </p:nvSpPr>
          <p:spPr>
            <a:xfrm>
              <a:off x="4498848" y="2194560"/>
              <a:ext cx="29260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a informar — a planilha não traz preços</a:t>
              </a:r>
              <a:endParaRPr lang="en-US" sz="1300" dirty="0"/>
            </a:p>
          </p:txBody>
        </p:sp>
        <p:sp>
          <p:nvSpPr>
            <p:cNvPr id="12" name="s11_ig"/>
            <p:cNvSpPr txBox="1"/>
            <p:nvPr/>
          </p:nvSpPr>
          <p:spPr>
            <a:xfrm>
              <a:off x="7543800" y="1481328"/>
              <a:ext cx="50292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600" b="1" dirty="0">
                  <a:solidFill>
                    <a:schemeClr val="accent6"/>
                  </a:solidFill>
                </a:rPr>
                <a:t>=</a:t>
              </a:r>
              <a:endParaRPr lang="en-US" sz="3600" dirty="0"/>
            </a:p>
          </p:txBody>
        </p:sp>
        <p:sp>
          <p:nvSpPr>
            <p:cNvPr id="13" name="s11_orc_bg"/>
            <p:cNvSpPr/>
            <p:nvPr/>
          </p:nvSpPr>
          <p:spPr>
            <a:xfrm>
              <a:off x="8046720" y="1481328"/>
              <a:ext cx="3593592" cy="1417320"/>
            </a:xfrm>
            <a:prstGeom prst="roundRect">
              <a:avLst>
                <a:gd name="adj" fmla="val 5161"/>
              </a:avLst>
            </a:prstGeom>
            <a:solidFill>
              <a:schemeClr val="tx2"/>
            </a:solidFill>
            <a:ln/>
          </p:spPr>
        </p:sp>
        <p:sp>
          <p:nvSpPr>
            <p:cNvPr id="14" name="s11_orc_v"/>
            <p:cNvSpPr txBox="1"/>
            <p:nvPr/>
          </p:nvSpPr>
          <p:spPr>
            <a:xfrm>
              <a:off x="8247888" y="1609344"/>
              <a:ext cx="32918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bg1"/>
                  </a:solidFill>
                </a:rPr>
                <a:t>Orçamento da compra</a:t>
              </a:r>
              <a:endParaRPr lang="en-US" sz="2200" dirty="0"/>
            </a:p>
          </p:txBody>
        </p:sp>
        <p:sp>
          <p:nvSpPr>
            <p:cNvPr id="15" name="s11_orc_t"/>
            <p:cNvSpPr txBox="1"/>
            <p:nvPr/>
          </p:nvSpPr>
          <p:spPr>
            <a:xfrm>
              <a:off x="8247888" y="2194560"/>
              <a:ext cx="329184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D7E5D2"/>
                  </a:solidFill>
                </a:rPr>
                <a:t>calculável assim que o preço for informado</a:t>
              </a:r>
              <a:endParaRPr lang="en-US" sz="1300" dirty="0"/>
            </a:p>
          </p:txBody>
        </p:sp>
      </p:grpSp>
      <p:grpSp>
        <p:nvGrpSpPr>
          <p:cNvPr id="46" name="s11_sens">
            <a:extLst>
              <a:ext uri="{FF2B5EF4-FFF2-40B4-BE49-F238E27FC236}">
                <a16:creationId xmlns:a16="http://schemas.microsoft.com/office/drawing/2014/main" id="{BF89AC75-5958-E302-1EAB-9D659610E03B}"/>
              </a:ext>
            </a:extLst>
          </p:cNvPr>
          <p:cNvGrpSpPr/>
          <p:nvPr/>
        </p:nvGrpSpPr>
        <p:grpSpPr>
          <a:xfrm>
            <a:off x="548640" y="3172968"/>
            <a:ext cx="11100816" cy="1691640"/>
            <a:chOff x="548640" y="3172968"/>
            <a:chExt cx="11100816" cy="1691640"/>
          </a:xfrm>
        </p:grpSpPr>
        <p:sp>
          <p:nvSpPr>
            <p:cNvPr id="16" name="s11_sens_t"/>
            <p:cNvSpPr txBox="1"/>
            <p:nvPr/>
          </p:nvSpPr>
          <p:spPr>
            <a:xfrm>
              <a:off x="548640" y="3172968"/>
              <a:ext cx="73152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Sensibilidade a cada R$ 100/t de preço</a:t>
              </a:r>
              <a:endParaRPr lang="en-US" sz="1600" dirty="0"/>
            </a:p>
          </p:txBody>
        </p:sp>
        <p:sp>
          <p:nvSpPr>
            <p:cNvPr id="17" name="s11_s0_bg"/>
            <p:cNvSpPr/>
            <p:nvPr/>
          </p:nvSpPr>
          <p:spPr>
            <a:xfrm>
              <a:off x="548640" y="3566160"/>
              <a:ext cx="2651760" cy="1298448"/>
            </a:xfrm>
            <a:prstGeom prst="roundRect">
              <a:avLst>
                <a:gd name="adj" fmla="val 5634"/>
              </a:avLst>
            </a:prstGeom>
            <a:solidFill>
              <a:schemeClr val="bg2"/>
            </a:solidFill>
            <a:ln/>
          </p:spPr>
        </p:sp>
        <p:sp>
          <p:nvSpPr>
            <p:cNvPr id="18" name="s11_s0_v"/>
            <p:cNvSpPr txBox="1"/>
            <p:nvPr/>
          </p:nvSpPr>
          <p:spPr>
            <a:xfrm>
              <a:off x="731520" y="365760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R$ 226 mil</a:t>
              </a:r>
              <a:endParaRPr lang="en-US" sz="2400" dirty="0"/>
            </a:p>
          </p:txBody>
        </p:sp>
        <p:sp>
          <p:nvSpPr>
            <p:cNvPr id="19" name="s11_s0_t"/>
            <p:cNvSpPr txBox="1"/>
            <p:nvPr/>
          </p:nvSpPr>
          <p:spPr>
            <a:xfrm>
              <a:off x="731520" y="4160520"/>
              <a:ext cx="2331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na compra de 16-00-20 do cenário A · R$ 254 mil no B</a:t>
              </a:r>
              <a:endParaRPr lang="en-US" sz="1200" dirty="0"/>
            </a:p>
          </p:txBody>
        </p:sp>
        <p:sp>
          <p:nvSpPr>
            <p:cNvPr id="20" name="s11_s1_bg"/>
            <p:cNvSpPr/>
            <p:nvPr/>
          </p:nvSpPr>
          <p:spPr>
            <a:xfrm>
              <a:off x="3364992" y="3566160"/>
              <a:ext cx="2651760" cy="1298448"/>
            </a:xfrm>
            <a:prstGeom prst="roundRect">
              <a:avLst>
                <a:gd name="adj" fmla="val 5634"/>
              </a:avLst>
            </a:prstGeom>
            <a:solidFill>
              <a:schemeClr val="bg2"/>
            </a:solidFill>
            <a:ln/>
          </p:spPr>
        </p:sp>
        <p:sp>
          <p:nvSpPr>
            <p:cNvPr id="21" name="s11_s1_v"/>
            <p:cNvSpPr txBox="1"/>
            <p:nvPr/>
          </p:nvSpPr>
          <p:spPr>
            <a:xfrm>
              <a:off x="3547872" y="365760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R$ 50/ha</a:t>
              </a:r>
              <a:endParaRPr lang="en-US" sz="2400" dirty="0"/>
            </a:p>
          </p:txBody>
        </p:sp>
        <p:sp>
          <p:nvSpPr>
            <p:cNvPr id="22" name="s11_s1_t"/>
            <p:cNvSpPr txBox="1"/>
            <p:nvPr/>
          </p:nvSpPr>
          <p:spPr>
            <a:xfrm>
              <a:off x="3547872" y="4160520"/>
              <a:ext cx="2331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no custo do 16-00-20 por hectare, a 500 kg/ha</a:t>
              </a:r>
              <a:endParaRPr lang="en-US" sz="1200" dirty="0"/>
            </a:p>
          </p:txBody>
        </p:sp>
        <p:sp>
          <p:nvSpPr>
            <p:cNvPr id="23" name="s11_s2_bg"/>
            <p:cNvSpPr/>
            <p:nvPr/>
          </p:nvSpPr>
          <p:spPr>
            <a:xfrm>
              <a:off x="6181344" y="3566160"/>
              <a:ext cx="2651760" cy="1298448"/>
            </a:xfrm>
            <a:prstGeom prst="roundRect">
              <a:avLst>
                <a:gd name="adj" fmla="val 5634"/>
              </a:avLst>
            </a:prstGeom>
            <a:solidFill>
              <a:schemeClr val="bg2"/>
            </a:solidFill>
            <a:ln/>
          </p:spPr>
        </p:sp>
        <p:sp>
          <p:nvSpPr>
            <p:cNvPr id="24" name="s11_s2_v"/>
            <p:cNvSpPr txBox="1"/>
            <p:nvPr/>
          </p:nvSpPr>
          <p:spPr>
            <a:xfrm>
              <a:off x="6364224" y="365760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R$ 20/ha</a:t>
              </a:r>
              <a:endParaRPr lang="en-US" sz="2400" dirty="0"/>
            </a:p>
          </p:txBody>
        </p:sp>
        <p:sp>
          <p:nvSpPr>
            <p:cNvPr id="25" name="s11_s2_t"/>
            <p:cNvSpPr txBox="1"/>
            <p:nvPr/>
          </p:nvSpPr>
          <p:spPr>
            <a:xfrm>
              <a:off x="6364224" y="4160520"/>
              <a:ext cx="2331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no custo do 46-00-00 por hectare, a 200 kg/ha</a:t>
              </a:r>
              <a:endParaRPr lang="en-US" sz="1200" dirty="0"/>
            </a:p>
          </p:txBody>
        </p:sp>
        <p:sp>
          <p:nvSpPr>
            <p:cNvPr id="26" name="s11_s3_bg"/>
            <p:cNvSpPr/>
            <p:nvPr/>
          </p:nvSpPr>
          <p:spPr>
            <a:xfrm>
              <a:off x="8997696" y="3566160"/>
              <a:ext cx="2651760" cy="1298448"/>
            </a:xfrm>
            <a:prstGeom prst="roundRect">
              <a:avLst>
                <a:gd name="adj" fmla="val 5634"/>
              </a:avLst>
            </a:prstGeom>
            <a:solidFill>
              <a:schemeClr val="bg2"/>
            </a:solidFill>
            <a:ln/>
          </p:spPr>
        </p:sp>
        <p:sp>
          <p:nvSpPr>
            <p:cNvPr id="27" name="s11_s3_v"/>
            <p:cNvSpPr txBox="1"/>
            <p:nvPr/>
          </p:nvSpPr>
          <p:spPr>
            <a:xfrm>
              <a:off x="9180576" y="3657600"/>
              <a:ext cx="233172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chemeClr val="tx2"/>
                  </a:solidFill>
                </a:rPr>
                <a:t>R$ 139 mil</a:t>
              </a:r>
              <a:endParaRPr lang="en-US" sz="2400" dirty="0"/>
            </a:p>
          </p:txBody>
        </p:sp>
        <p:sp>
          <p:nvSpPr>
            <p:cNvPr id="28" name="s11_s3_t"/>
            <p:cNvSpPr txBox="1"/>
            <p:nvPr/>
          </p:nvSpPr>
          <p:spPr>
            <a:xfrm>
              <a:off x="9180576" y="4160520"/>
              <a:ext cx="2331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no valor do excedente de 46-00-00 (A) · R$ 151 mil no B</a:t>
              </a:r>
              <a:endParaRPr lang="en-US" sz="1200" dirty="0"/>
            </a:p>
          </p:txBody>
        </p:sp>
      </p:grpSp>
      <p:grpSp>
        <p:nvGrpSpPr>
          <p:cNvPr id="47" name="s11_falta">
            <a:extLst>
              <a:ext uri="{FF2B5EF4-FFF2-40B4-BE49-F238E27FC236}">
                <a16:creationId xmlns:a16="http://schemas.microsoft.com/office/drawing/2014/main" id="{024A257B-C254-ADE0-1EAA-67749EA612CE}"/>
              </a:ext>
            </a:extLst>
          </p:cNvPr>
          <p:cNvGrpSpPr/>
          <p:nvPr/>
        </p:nvGrpSpPr>
        <p:grpSpPr>
          <a:xfrm>
            <a:off x="548640" y="5029200"/>
            <a:ext cx="11100816" cy="914400"/>
            <a:chOff x="548640" y="5029200"/>
            <a:chExt cx="11100816" cy="914400"/>
          </a:xfrm>
        </p:grpSpPr>
        <p:sp>
          <p:nvSpPr>
            <p:cNvPr id="29" name="s11_falta_t"/>
            <p:cNvSpPr txBox="1"/>
            <p:nvPr/>
          </p:nvSpPr>
          <p:spPr>
            <a:xfrm>
              <a:off x="548640" y="5029200"/>
              <a:ext cx="36576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Para fechar o orçamento faltam</a:t>
              </a:r>
              <a:endParaRPr lang="en-US" sz="1400" dirty="0"/>
            </a:p>
          </p:txBody>
        </p:sp>
        <p:sp>
          <p:nvSpPr>
            <p:cNvPr id="30" name="s11_f0_bg"/>
            <p:cNvSpPr/>
            <p:nvPr/>
          </p:nvSpPr>
          <p:spPr>
            <a:xfrm>
              <a:off x="548640" y="5376672"/>
              <a:ext cx="2651760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alpha val="20000"/>
              </a:schemeClr>
            </a:solidFill>
            <a:ln/>
          </p:spPr>
        </p:sp>
        <p:pic>
          <p:nvPicPr>
            <p:cNvPr id="31" name="s11_f0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368" y="5486400"/>
              <a:ext cx="347472" cy="347472"/>
            </a:xfrm>
            <a:prstGeom prst="rect">
              <a:avLst/>
            </a:prstGeom>
          </p:spPr>
        </p:pic>
        <p:sp>
          <p:nvSpPr>
            <p:cNvPr id="32" name="s11_f0_t"/>
            <p:cNvSpPr txBox="1"/>
            <p:nvPr/>
          </p:nvSpPr>
          <p:spPr>
            <a:xfrm>
              <a:off x="1097280" y="5376672"/>
              <a:ext cx="20116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Preço por fórmula e condição (CIF/FOB, prazo)</a:t>
              </a:r>
              <a:endParaRPr lang="en-US" sz="1200" dirty="0"/>
            </a:p>
          </p:txBody>
        </p:sp>
        <p:sp>
          <p:nvSpPr>
            <p:cNvPr id="33" name="s11_f1_bg"/>
            <p:cNvSpPr/>
            <p:nvPr/>
          </p:nvSpPr>
          <p:spPr>
            <a:xfrm>
              <a:off x="3364992" y="5376672"/>
              <a:ext cx="2651760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alpha val="20000"/>
              </a:schemeClr>
            </a:solidFill>
            <a:ln/>
          </p:spPr>
        </p:sp>
        <p:pic>
          <p:nvPicPr>
            <p:cNvPr id="34" name="s11_f1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74720" y="5486400"/>
              <a:ext cx="347472" cy="347472"/>
            </a:xfrm>
            <a:prstGeom prst="rect">
              <a:avLst/>
            </a:prstGeom>
          </p:spPr>
        </p:pic>
        <p:sp>
          <p:nvSpPr>
            <p:cNvPr id="35" name="s11_f1_t"/>
            <p:cNvSpPr txBox="1"/>
            <p:nvPr/>
          </p:nvSpPr>
          <p:spPr>
            <a:xfrm>
              <a:off x="3913632" y="5376672"/>
              <a:ext cx="20116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Preço das 3.180 t já compradas</a:t>
              </a:r>
              <a:endParaRPr lang="en-US" sz="1200" dirty="0"/>
            </a:p>
          </p:txBody>
        </p:sp>
        <p:sp>
          <p:nvSpPr>
            <p:cNvPr id="36" name="s11_f2_bg"/>
            <p:cNvSpPr/>
            <p:nvPr/>
          </p:nvSpPr>
          <p:spPr>
            <a:xfrm>
              <a:off x="6181344" y="5376672"/>
              <a:ext cx="2651760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alpha val="20000"/>
              </a:schemeClr>
            </a:solidFill>
            <a:ln/>
          </p:spPr>
        </p:sp>
        <p:pic>
          <p:nvPicPr>
            <p:cNvPr id="37" name="s11_f2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1072" y="5486400"/>
              <a:ext cx="347472" cy="347472"/>
            </a:xfrm>
            <a:prstGeom prst="rect">
              <a:avLst/>
            </a:prstGeom>
          </p:spPr>
        </p:pic>
        <p:sp>
          <p:nvSpPr>
            <p:cNvPr id="38" name="s11_f2_t"/>
            <p:cNvSpPr txBox="1"/>
            <p:nvPr/>
          </p:nvSpPr>
          <p:spPr>
            <a:xfrm>
              <a:off x="6729984" y="5376672"/>
              <a:ext cx="20116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Frete e armazenagem</a:t>
              </a:r>
              <a:endParaRPr lang="en-US" sz="1200" dirty="0"/>
            </a:p>
          </p:txBody>
        </p:sp>
        <p:sp>
          <p:nvSpPr>
            <p:cNvPr id="39" name="s11_f3_bg"/>
            <p:cNvSpPr/>
            <p:nvPr/>
          </p:nvSpPr>
          <p:spPr>
            <a:xfrm>
              <a:off x="8997696" y="5376672"/>
              <a:ext cx="2651760" cy="566928"/>
            </a:xfrm>
            <a:prstGeom prst="roundRect">
              <a:avLst>
                <a:gd name="adj" fmla="val 9677"/>
              </a:avLst>
            </a:prstGeom>
            <a:solidFill>
              <a:schemeClr val="accent3">
                <a:alpha val="20000"/>
              </a:schemeClr>
            </a:solidFill>
            <a:ln/>
          </p:spPr>
        </p:sp>
        <p:pic>
          <p:nvPicPr>
            <p:cNvPr id="40" name="s11_f3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07424" y="5486400"/>
              <a:ext cx="347472" cy="347472"/>
            </a:xfrm>
            <a:prstGeom prst="rect">
              <a:avLst/>
            </a:prstGeom>
          </p:spPr>
        </p:pic>
        <p:sp>
          <p:nvSpPr>
            <p:cNvPr id="41" name="s11_f3_t"/>
            <p:cNvSpPr txBox="1"/>
            <p:nvPr/>
          </p:nvSpPr>
          <p:spPr>
            <a:xfrm>
              <a:off x="9546336" y="5376672"/>
              <a:ext cx="20116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Custo de aplicação por hectare</a:t>
              </a:r>
              <a:endParaRPr lang="en-US" sz="1200" dirty="0"/>
            </a:p>
          </p:txBody>
        </p:sp>
      </p:grpSp>
      <p:sp>
        <p:nvSpPr>
          <p:cNvPr id="42" name="s11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volumes de B56 e F50 (LOC. 1.000ha e LOC. 450ha); doses J38:J39. Nenhum preço foi assumido.</a:t>
            </a:r>
            <a:endParaRPr lang="en-US" sz="1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CENÁRIOS DE PLANEJAMENTO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Cada dia de vinhaça com K poupa 25 t de 16-00-20</a:t>
            </a:r>
            <a:endParaRPr lang="en-US" sz="3000" dirty="0"/>
          </a:p>
        </p:txBody>
      </p:sp>
      <p:graphicFrame>
        <p:nvGraphicFramePr>
          <p:cNvPr id="13" name="s12_ta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6172200" cy="91440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Premissa / resultado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 · 1.000 ha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 · 450 ha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 − 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Dias de vinhaça com K adequado (C13)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−20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Área de localizada estimada, ha (C14)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1.015,6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−1.015,6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Localizada CRV a adubar, ha (H38)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569,0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−569,0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Mineral CRV a adubar, ha (H39)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10.843,7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11.412,6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+569,0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Necessidade de 16-00-20, 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5.421,8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5.706,3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+284,5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Necessidade de 46-00-00, 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113,8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0,0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−113,8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Compra de 16-00-20, 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2.259,8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2.544,3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E2B25"/>
                          </a:solidFill>
                        </a:rPr>
                        <a:t>+284,5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Excedente de 46-00-00, t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1.393,2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1.507,0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dirty="0">
                          <a:solidFill>
                            <a:srgbClr val="1E2B25"/>
                          </a:solidFill>
                        </a:rPr>
                        <a:t>+113,8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12_cap"/>
          <p:cNvSpPr txBox="1"/>
          <p:nvPr/>
        </p:nvSpPr>
        <p:spPr>
          <a:xfrm>
            <a:off x="6995160" y="14813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Compra de 16-00-20 conforme os dias de vinhaça com K (t)</a:t>
            </a:r>
            <a:endParaRPr lang="en-US" sz="1400" dirty="0"/>
          </a:p>
        </p:txBody>
      </p:sp>
      <p:graphicFrame>
        <p:nvGraphicFramePr>
          <p:cNvPr id="6" name="s12_graf"/>
          <p:cNvGraphicFramePr/>
          <p:nvPr/>
        </p:nvGraphicFramePr>
        <p:xfrm>
          <a:off x="6995160" y="1810512"/>
          <a:ext cx="4645152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12_obs"/>
          <p:cNvSpPr txBox="1"/>
          <p:nvPr/>
        </p:nvSpPr>
        <p:spPr>
          <a:xfrm>
            <a:off x="6995160" y="4846320"/>
            <a:ext cx="4645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Até ~9 dias, a localizada atende primeiro os 446,63 ha da Cargill; depois, cada dia (50,78 ha) troca 25,4 t de 16-00-20 por 10,2 t de 46-00-00. Acima de 20 dias, só com vinhaça de K adequado e até 30/11 (45 dias).</a:t>
            </a:r>
            <a:endParaRPr lang="en-US" sz="1200" dirty="0"/>
          </a:p>
        </p:txBody>
      </p:sp>
      <p:grpSp>
        <p:nvGrpSpPr>
          <p:cNvPr id="4" name="s12_alt">
            <a:extLst>
              <a:ext uri="{FF2B5EF4-FFF2-40B4-BE49-F238E27FC236}">
                <a16:creationId xmlns:a16="http://schemas.microsoft.com/office/drawing/2014/main" id="{845DCCB8-9510-2DDD-816C-925CC606C825}"/>
              </a:ext>
            </a:extLst>
          </p:cNvPr>
          <p:cNvGrpSpPr/>
          <p:nvPr/>
        </p:nvGrpSpPr>
        <p:grpSpPr>
          <a:xfrm>
            <a:off x="548640" y="4956048"/>
            <a:ext cx="6172200" cy="1033272"/>
            <a:chOff x="548640" y="4956048"/>
            <a:chExt cx="6172200" cy="1033272"/>
          </a:xfrm>
        </p:grpSpPr>
        <p:sp>
          <p:nvSpPr>
            <p:cNvPr id="8" name="s12_alt_bg"/>
            <p:cNvSpPr/>
            <p:nvPr/>
          </p:nvSpPr>
          <p:spPr>
            <a:xfrm>
              <a:off x="548640" y="4956048"/>
              <a:ext cx="6172200" cy="1033272"/>
            </a:xfrm>
            <a:prstGeom prst="roundRect">
              <a:avLst>
                <a:gd name="adj" fmla="val 7080"/>
              </a:avLst>
            </a:prstGeom>
            <a:solidFill>
              <a:schemeClr val="accent3">
                <a:alpha val="18000"/>
              </a:schemeClr>
            </a:solidFill>
            <a:ln/>
          </p:spPr>
        </p:sp>
        <p:pic>
          <p:nvPicPr>
            <p:cNvPr id="9" name="s12_alt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232" y="5093208"/>
              <a:ext cx="365760" cy="365760"/>
            </a:xfrm>
            <a:prstGeom prst="rect">
              <a:avLst/>
            </a:prstGeom>
          </p:spPr>
        </p:pic>
        <p:sp>
          <p:nvSpPr>
            <p:cNvPr id="10" name="s12_alt_tx"/>
            <p:cNvSpPr txBox="1"/>
            <p:nvPr/>
          </p:nvSpPr>
          <p:spPr>
            <a:xfrm>
              <a:off x="1207008" y="5047488"/>
              <a:ext cx="5394960" cy="8961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Alternativa a avaliar com a agronomia: </a:t>
              </a:r>
              <a:r>
                <a:rPr lang="en-US" sz="1200" dirty="0">
                  <a:solidFill>
                    <a:schemeClr val="tx1"/>
                  </a:solidFill>
                </a:rPr>
                <a:t>o excedente de 46-00-00 (A) contém 641 t de N, acima das 362 t de N do déficit de 16-00-20; faltaria uma fonte de K para 452 t de K₂O.</a:t>
              </a:r>
              <a:endParaRPr lang="en-US" sz="1200" dirty="0"/>
            </a:p>
          </p:txBody>
        </p:sp>
      </p:grpSp>
      <p:sp>
        <p:nvSpPr>
          <p:cNvPr id="11" name="s12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cenários = abas LOC. 1.000ha (A) e LOC. 450ha (B). Barras de 10, 30 e 45 dias: mesma lógica da aba A, só variando C13 (sensibilidade, não cenário oficial).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40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40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40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4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40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8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40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Graphic spid="6" grpId="0">
        <p:bldSub>
          <a:bldChart bld="category"/>
        </p:bldSub>
      </p:bldGraphic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RISCOS E PONTOS DE ATENÇÃO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Ruptura de 16-00-20 é o principal risco da safra</a:t>
            </a:r>
            <a:endParaRPr lang="en-US" sz="3000" dirty="0"/>
          </a:p>
        </p:txBody>
      </p:sp>
      <p:grpSp>
        <p:nvGrpSpPr>
          <p:cNvPr id="48" name="s13_r0">
            <a:extLst>
              <a:ext uri="{FF2B5EF4-FFF2-40B4-BE49-F238E27FC236}">
                <a16:creationId xmlns:a16="http://schemas.microsoft.com/office/drawing/2014/main" id="{F0000259-AE71-FC72-E97A-79F003D40013}"/>
              </a:ext>
            </a:extLst>
          </p:cNvPr>
          <p:cNvGrpSpPr/>
          <p:nvPr/>
        </p:nvGrpSpPr>
        <p:grpSpPr>
          <a:xfrm>
            <a:off x="548640" y="1481328"/>
            <a:ext cx="3557016" cy="2103120"/>
            <a:chOff x="548640" y="1481328"/>
            <a:chExt cx="3557016" cy="2103120"/>
          </a:xfrm>
        </p:grpSpPr>
        <p:sp>
          <p:nvSpPr>
            <p:cNvPr id="4" name="s13_r0_bg"/>
            <p:cNvSpPr/>
            <p:nvPr/>
          </p:nvSpPr>
          <p:spPr>
            <a:xfrm>
              <a:off x="548640" y="1481328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5" name="s13_r0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1664208"/>
              <a:ext cx="457200" cy="457200"/>
            </a:xfrm>
            <a:prstGeom prst="rect">
              <a:avLst/>
            </a:prstGeom>
          </p:spPr>
        </p:pic>
        <p:sp>
          <p:nvSpPr>
            <p:cNvPr id="6" name="s13_r0_sv"/>
            <p:cNvSpPr/>
            <p:nvPr/>
          </p:nvSpPr>
          <p:spPr>
            <a:xfrm>
              <a:off x="3145536" y="1728216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/>
          </p:spPr>
        </p:sp>
        <p:sp>
          <p:nvSpPr>
            <p:cNvPr id="7" name="s13_r0_svt"/>
            <p:cNvSpPr txBox="1"/>
            <p:nvPr/>
          </p:nvSpPr>
          <p:spPr>
            <a:xfrm>
              <a:off x="3145536" y="1728216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ALTO</a:t>
              </a:r>
              <a:endParaRPr lang="en-US" sz="1100" dirty="0"/>
            </a:p>
          </p:txBody>
        </p:sp>
        <p:sp>
          <p:nvSpPr>
            <p:cNvPr id="8" name="s13_r0_t"/>
            <p:cNvSpPr txBox="1"/>
            <p:nvPr/>
          </p:nvSpPr>
          <p:spPr>
            <a:xfrm>
              <a:off x="731520" y="223113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Déficit de 16-00-20</a:t>
              </a:r>
              <a:endParaRPr lang="en-US" sz="1500" dirty="0"/>
            </a:p>
          </p:txBody>
        </p:sp>
        <p:sp>
          <p:nvSpPr>
            <p:cNvPr id="9" name="s13_r0_v"/>
            <p:cNvSpPr txBox="1"/>
            <p:nvPr/>
          </p:nvSpPr>
          <p:spPr>
            <a:xfrm>
              <a:off x="731520" y="2523744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accent4"/>
                  </a:solidFill>
                </a:rPr>
                <a:t>2.260–2.544 t</a:t>
              </a:r>
              <a:endParaRPr lang="en-US" sz="2200" dirty="0"/>
            </a:p>
          </p:txBody>
        </p:sp>
        <p:sp>
          <p:nvSpPr>
            <p:cNvPr id="10" name="s13_r0_d"/>
            <p:cNvSpPr txBox="1"/>
            <p:nvPr/>
          </p:nvSpPr>
          <p:spPr>
            <a:xfrm>
              <a:off x="731520" y="2962656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sem cobertura: 42% a 45% da necessidade do produto</a:t>
              </a:r>
              <a:endParaRPr lang="en-US" sz="1200" dirty="0"/>
            </a:p>
          </p:txBody>
        </p:sp>
      </p:grpSp>
      <p:grpSp>
        <p:nvGrpSpPr>
          <p:cNvPr id="49" name="s13_r1">
            <a:extLst>
              <a:ext uri="{FF2B5EF4-FFF2-40B4-BE49-F238E27FC236}">
                <a16:creationId xmlns:a16="http://schemas.microsoft.com/office/drawing/2014/main" id="{7A7E4E82-561C-6B78-B966-1961455FCF14}"/>
              </a:ext>
            </a:extLst>
          </p:cNvPr>
          <p:cNvGrpSpPr/>
          <p:nvPr/>
        </p:nvGrpSpPr>
        <p:grpSpPr>
          <a:xfrm>
            <a:off x="4315968" y="1481328"/>
            <a:ext cx="3557016" cy="2103120"/>
            <a:chOff x="4315968" y="1481328"/>
            <a:chExt cx="3557016" cy="2103120"/>
          </a:xfrm>
        </p:grpSpPr>
        <p:sp>
          <p:nvSpPr>
            <p:cNvPr id="11" name="s13_r1_bg"/>
            <p:cNvSpPr/>
            <p:nvPr/>
          </p:nvSpPr>
          <p:spPr>
            <a:xfrm>
              <a:off x="4315968" y="1481328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12" name="s13_r1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98848" y="1664208"/>
              <a:ext cx="457200" cy="457200"/>
            </a:xfrm>
            <a:prstGeom prst="rect">
              <a:avLst/>
            </a:prstGeom>
          </p:spPr>
        </p:pic>
        <p:sp>
          <p:nvSpPr>
            <p:cNvPr id="13" name="s13_r1_sv"/>
            <p:cNvSpPr/>
            <p:nvPr/>
          </p:nvSpPr>
          <p:spPr>
            <a:xfrm>
              <a:off x="6912864" y="1728216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/>
          </p:spPr>
        </p:sp>
        <p:sp>
          <p:nvSpPr>
            <p:cNvPr id="14" name="s13_r1_svt"/>
            <p:cNvSpPr txBox="1"/>
            <p:nvPr/>
          </p:nvSpPr>
          <p:spPr>
            <a:xfrm>
              <a:off x="6912864" y="1728216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ALTO</a:t>
              </a:r>
              <a:endParaRPr lang="en-US" sz="1100" dirty="0"/>
            </a:p>
          </p:txBody>
        </p:sp>
        <p:sp>
          <p:nvSpPr>
            <p:cNvPr id="15" name="s13_r1_t"/>
            <p:cNvSpPr txBox="1"/>
            <p:nvPr/>
          </p:nvSpPr>
          <p:spPr>
            <a:xfrm>
              <a:off x="4498848" y="223113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Entregas sem data</a:t>
              </a:r>
              <a:endParaRPr lang="en-US" sz="1500" dirty="0"/>
            </a:p>
          </p:txBody>
        </p:sp>
        <p:sp>
          <p:nvSpPr>
            <p:cNvPr id="16" name="s13_r1_v"/>
            <p:cNvSpPr txBox="1"/>
            <p:nvPr/>
          </p:nvSpPr>
          <p:spPr>
            <a:xfrm>
              <a:off x="4498848" y="2523744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accent4"/>
                  </a:solidFill>
                </a:rPr>
                <a:t>3.180 t</a:t>
              </a:r>
              <a:endParaRPr lang="en-US" sz="2200" dirty="0"/>
            </a:p>
          </p:txBody>
        </p:sp>
        <p:sp>
          <p:nvSpPr>
            <p:cNvPr id="17" name="s13_r1_d"/>
            <p:cNvSpPr txBox="1"/>
            <p:nvPr/>
          </p:nvSpPr>
          <p:spPr>
            <a:xfrm>
              <a:off x="4498848" y="2962656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compradas sem cronograma; sem elas, o estoque cobre ~12,5 dias (premissa linear)</a:t>
              </a:r>
              <a:endParaRPr lang="en-US" sz="1200" dirty="0"/>
            </a:p>
          </p:txBody>
        </p:sp>
      </p:grpSp>
      <p:grpSp>
        <p:nvGrpSpPr>
          <p:cNvPr id="50" name="s13_r2">
            <a:extLst>
              <a:ext uri="{FF2B5EF4-FFF2-40B4-BE49-F238E27FC236}">
                <a16:creationId xmlns:a16="http://schemas.microsoft.com/office/drawing/2014/main" id="{B57BF03D-2F06-09E5-24A4-D6B1EF8A681B}"/>
              </a:ext>
            </a:extLst>
          </p:cNvPr>
          <p:cNvGrpSpPr/>
          <p:nvPr/>
        </p:nvGrpSpPr>
        <p:grpSpPr>
          <a:xfrm>
            <a:off x="8083296" y="1481328"/>
            <a:ext cx="3557016" cy="2103120"/>
            <a:chOff x="8083296" y="1481328"/>
            <a:chExt cx="3557016" cy="2103120"/>
          </a:xfrm>
        </p:grpSpPr>
        <p:sp>
          <p:nvSpPr>
            <p:cNvPr id="18" name="s13_r2_bg"/>
            <p:cNvSpPr/>
            <p:nvPr/>
          </p:nvSpPr>
          <p:spPr>
            <a:xfrm>
              <a:off x="8083296" y="1481328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19" name="s13_r2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66176" y="1664208"/>
              <a:ext cx="457200" cy="457200"/>
            </a:xfrm>
            <a:prstGeom prst="rect">
              <a:avLst/>
            </a:prstGeom>
          </p:spPr>
        </p:pic>
        <p:sp>
          <p:nvSpPr>
            <p:cNvPr id="20" name="s13_r2_sv"/>
            <p:cNvSpPr/>
            <p:nvPr/>
          </p:nvSpPr>
          <p:spPr>
            <a:xfrm>
              <a:off x="10680192" y="1728216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/>
          </p:spPr>
        </p:sp>
        <p:sp>
          <p:nvSpPr>
            <p:cNvPr id="21" name="s13_r2_svt"/>
            <p:cNvSpPr txBox="1"/>
            <p:nvPr/>
          </p:nvSpPr>
          <p:spPr>
            <a:xfrm>
              <a:off x="10680192" y="1728216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</a:rPr>
                <a:t>ALTO</a:t>
              </a:r>
              <a:endParaRPr lang="en-US" sz="1100" dirty="0"/>
            </a:p>
          </p:txBody>
        </p:sp>
        <p:sp>
          <p:nvSpPr>
            <p:cNvPr id="22" name="s13_r2_t"/>
            <p:cNvSpPr txBox="1"/>
            <p:nvPr/>
          </p:nvSpPr>
          <p:spPr>
            <a:xfrm>
              <a:off x="8266176" y="2231136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Lacunas de informação</a:t>
              </a:r>
              <a:endParaRPr lang="en-US" sz="1500" dirty="0"/>
            </a:p>
          </p:txBody>
        </p:sp>
        <p:sp>
          <p:nvSpPr>
            <p:cNvPr id="23" name="s13_r2_v"/>
            <p:cNvSpPr txBox="1"/>
            <p:nvPr/>
          </p:nvSpPr>
          <p:spPr>
            <a:xfrm>
              <a:off x="8266176" y="2523744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accent4"/>
                  </a:solidFill>
                </a:rPr>
                <a:t>4 dados</a:t>
              </a:r>
              <a:endParaRPr lang="en-US" sz="2200" dirty="0"/>
            </a:p>
          </p:txBody>
        </p:sp>
        <p:sp>
          <p:nvSpPr>
            <p:cNvPr id="24" name="s13_r2_d"/>
            <p:cNvSpPr txBox="1"/>
            <p:nvPr/>
          </p:nvSpPr>
          <p:spPr>
            <a:xfrm>
              <a:off x="8266176" y="2962656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faltam preços, prazos de fornecimento, demanda mensal e necessidade do plantio (2.400 ha)</a:t>
              </a:r>
              <a:endParaRPr lang="en-US" sz="1200" dirty="0"/>
            </a:p>
          </p:txBody>
        </p:sp>
      </p:grpSp>
      <p:grpSp>
        <p:nvGrpSpPr>
          <p:cNvPr id="51" name="s13_r3">
            <a:extLst>
              <a:ext uri="{FF2B5EF4-FFF2-40B4-BE49-F238E27FC236}">
                <a16:creationId xmlns:a16="http://schemas.microsoft.com/office/drawing/2014/main" id="{610569E8-D4C6-F6A2-5973-16427DC633A1}"/>
              </a:ext>
            </a:extLst>
          </p:cNvPr>
          <p:cNvGrpSpPr/>
          <p:nvPr/>
        </p:nvGrpSpPr>
        <p:grpSpPr>
          <a:xfrm>
            <a:off x="548640" y="3739896"/>
            <a:ext cx="3557016" cy="2103120"/>
            <a:chOff x="548640" y="3739896"/>
            <a:chExt cx="3557016" cy="2103120"/>
          </a:xfrm>
        </p:grpSpPr>
        <p:sp>
          <p:nvSpPr>
            <p:cNvPr id="25" name="s13_r3_bg"/>
            <p:cNvSpPr/>
            <p:nvPr/>
          </p:nvSpPr>
          <p:spPr>
            <a:xfrm>
              <a:off x="548640" y="3739896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26" name="s13_r3_ic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1520" y="3922776"/>
              <a:ext cx="457200" cy="457200"/>
            </a:xfrm>
            <a:prstGeom prst="rect">
              <a:avLst/>
            </a:prstGeom>
          </p:spPr>
        </p:pic>
        <p:sp>
          <p:nvSpPr>
            <p:cNvPr id="27" name="s13_r3_sv"/>
            <p:cNvSpPr/>
            <p:nvPr/>
          </p:nvSpPr>
          <p:spPr>
            <a:xfrm>
              <a:off x="3145536" y="3986784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/>
          </p:spPr>
        </p:sp>
        <p:sp>
          <p:nvSpPr>
            <p:cNvPr id="28" name="s13_r3_svt"/>
            <p:cNvSpPr txBox="1"/>
            <p:nvPr/>
          </p:nvSpPr>
          <p:spPr>
            <a:xfrm>
              <a:off x="3145536" y="3986784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MÉDIO</a:t>
              </a:r>
              <a:endParaRPr lang="en-US" sz="1100" dirty="0"/>
            </a:p>
          </p:txBody>
        </p:sp>
        <p:sp>
          <p:nvSpPr>
            <p:cNvPr id="29" name="s13_r3_t"/>
            <p:cNvSpPr txBox="1"/>
            <p:nvPr/>
          </p:nvSpPr>
          <p:spPr>
            <a:xfrm>
              <a:off x="731520" y="448970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Excedente de 46-00-00</a:t>
              </a:r>
              <a:endParaRPr lang="en-US" sz="1500" dirty="0"/>
            </a:p>
          </p:txBody>
        </p:sp>
        <p:sp>
          <p:nvSpPr>
            <p:cNvPr id="30" name="s13_r3_v"/>
            <p:cNvSpPr txBox="1"/>
            <p:nvPr/>
          </p:nvSpPr>
          <p:spPr>
            <a:xfrm>
              <a:off x="731520" y="4782312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tx1"/>
                  </a:solidFill>
                </a:rPr>
                <a:t>1.393–1.507 t</a:t>
              </a:r>
              <a:endParaRPr lang="en-US" sz="2200" dirty="0"/>
            </a:p>
          </p:txBody>
        </p:sp>
        <p:sp>
          <p:nvSpPr>
            <p:cNvPr id="31" name="s13_r3_d"/>
            <p:cNvSpPr txBox="1"/>
            <p:nvPr/>
          </p:nvSpPr>
          <p:spPr>
            <a:xfrm>
              <a:off x="731520" y="5221224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acima do uso previsto: capital parado e espaço de armazém</a:t>
              </a:r>
              <a:endParaRPr lang="en-US" sz="1200" dirty="0"/>
            </a:p>
          </p:txBody>
        </p:sp>
      </p:grpSp>
      <p:grpSp>
        <p:nvGrpSpPr>
          <p:cNvPr id="52" name="s13_r4">
            <a:extLst>
              <a:ext uri="{FF2B5EF4-FFF2-40B4-BE49-F238E27FC236}">
                <a16:creationId xmlns:a16="http://schemas.microsoft.com/office/drawing/2014/main" id="{86AE39BB-B322-7DFF-2914-2EF32E39AABE}"/>
              </a:ext>
            </a:extLst>
          </p:cNvPr>
          <p:cNvGrpSpPr/>
          <p:nvPr/>
        </p:nvGrpSpPr>
        <p:grpSpPr>
          <a:xfrm>
            <a:off x="4315968" y="3739896"/>
            <a:ext cx="3557016" cy="2103120"/>
            <a:chOff x="4315968" y="3739896"/>
            <a:chExt cx="3557016" cy="2103120"/>
          </a:xfrm>
        </p:grpSpPr>
        <p:sp>
          <p:nvSpPr>
            <p:cNvPr id="32" name="s13_r4_bg"/>
            <p:cNvSpPr/>
            <p:nvPr/>
          </p:nvSpPr>
          <p:spPr>
            <a:xfrm>
              <a:off x="4315968" y="3739896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33" name="s13_r4_ic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98848" y="3922776"/>
              <a:ext cx="457200" cy="457200"/>
            </a:xfrm>
            <a:prstGeom prst="rect">
              <a:avLst/>
            </a:prstGeom>
          </p:spPr>
        </p:pic>
        <p:sp>
          <p:nvSpPr>
            <p:cNvPr id="34" name="s13_r4_sv"/>
            <p:cNvSpPr/>
            <p:nvPr/>
          </p:nvSpPr>
          <p:spPr>
            <a:xfrm>
              <a:off x="6912864" y="3986784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/>
          </p:spPr>
        </p:sp>
        <p:sp>
          <p:nvSpPr>
            <p:cNvPr id="35" name="s13_r4_svt"/>
            <p:cNvSpPr txBox="1"/>
            <p:nvPr/>
          </p:nvSpPr>
          <p:spPr>
            <a:xfrm>
              <a:off x="6912864" y="3986784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MÉDIO</a:t>
              </a:r>
              <a:endParaRPr lang="en-US" sz="1100" dirty="0"/>
            </a:p>
          </p:txBody>
        </p:sp>
        <p:sp>
          <p:nvSpPr>
            <p:cNvPr id="36" name="s13_r4_t"/>
            <p:cNvSpPr txBox="1"/>
            <p:nvPr/>
          </p:nvSpPr>
          <p:spPr>
            <a:xfrm>
              <a:off x="4498848" y="448970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Dependência da vinhaça com K</a:t>
              </a:r>
              <a:endParaRPr lang="en-US" sz="1500" dirty="0"/>
            </a:p>
          </p:txBody>
        </p:sp>
        <p:sp>
          <p:nvSpPr>
            <p:cNvPr id="37" name="s13_r4_v"/>
            <p:cNvSpPr txBox="1"/>
            <p:nvPr/>
          </p:nvSpPr>
          <p:spPr>
            <a:xfrm>
              <a:off x="4498848" y="4782312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tx1"/>
                  </a:solidFill>
                </a:rPr>
                <a:t>+25,4 t/dia</a:t>
              </a:r>
              <a:endParaRPr lang="en-US" sz="2200" dirty="0"/>
            </a:p>
          </p:txBody>
        </p:sp>
        <p:sp>
          <p:nvSpPr>
            <p:cNvPr id="38" name="s13_r4_d"/>
            <p:cNvSpPr txBox="1"/>
            <p:nvPr/>
          </p:nvSpPr>
          <p:spPr>
            <a:xfrm>
              <a:off x="4498848" y="5221224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de 16-00-20 a cada dia a menos de localizada; até 284 t entre A e B</a:t>
              </a:r>
              <a:endParaRPr lang="en-US" sz="1200" dirty="0"/>
            </a:p>
          </p:txBody>
        </p:sp>
      </p:grpSp>
      <p:grpSp>
        <p:nvGrpSpPr>
          <p:cNvPr id="53" name="s13_r5">
            <a:extLst>
              <a:ext uri="{FF2B5EF4-FFF2-40B4-BE49-F238E27FC236}">
                <a16:creationId xmlns:a16="http://schemas.microsoft.com/office/drawing/2014/main" id="{564B1101-D507-6448-47B5-CB9566B615BE}"/>
              </a:ext>
            </a:extLst>
          </p:cNvPr>
          <p:cNvGrpSpPr/>
          <p:nvPr/>
        </p:nvGrpSpPr>
        <p:grpSpPr>
          <a:xfrm>
            <a:off x="8083296" y="3739896"/>
            <a:ext cx="3557016" cy="2103120"/>
            <a:chOff x="8083296" y="3739896"/>
            <a:chExt cx="3557016" cy="2103120"/>
          </a:xfrm>
        </p:grpSpPr>
        <p:sp>
          <p:nvSpPr>
            <p:cNvPr id="39" name="s13_r5_bg"/>
            <p:cNvSpPr/>
            <p:nvPr/>
          </p:nvSpPr>
          <p:spPr>
            <a:xfrm>
              <a:off x="8083296" y="3739896"/>
              <a:ext cx="3557016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pic>
          <p:nvPicPr>
            <p:cNvPr id="40" name="s13_r5_ic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66176" y="3922776"/>
              <a:ext cx="457200" cy="457200"/>
            </a:xfrm>
            <a:prstGeom prst="rect">
              <a:avLst/>
            </a:prstGeom>
          </p:spPr>
        </p:pic>
        <p:sp>
          <p:nvSpPr>
            <p:cNvPr id="41" name="s13_r5_sv"/>
            <p:cNvSpPr/>
            <p:nvPr/>
          </p:nvSpPr>
          <p:spPr>
            <a:xfrm>
              <a:off x="10680192" y="3986784"/>
              <a:ext cx="777240" cy="292608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/>
          </p:spPr>
        </p:sp>
        <p:sp>
          <p:nvSpPr>
            <p:cNvPr id="42" name="s13_r5_svt"/>
            <p:cNvSpPr txBox="1"/>
            <p:nvPr/>
          </p:nvSpPr>
          <p:spPr>
            <a:xfrm>
              <a:off x="10680192" y="3986784"/>
              <a:ext cx="77724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MÉDIO</a:t>
              </a:r>
              <a:endParaRPr lang="en-US" sz="1100" dirty="0"/>
            </a:p>
          </p:txBody>
        </p:sp>
        <p:sp>
          <p:nvSpPr>
            <p:cNvPr id="43" name="s13_r5_t"/>
            <p:cNvSpPr txBox="1"/>
            <p:nvPr/>
          </p:nvSpPr>
          <p:spPr>
            <a:xfrm>
              <a:off x="8266176" y="4489704"/>
              <a:ext cx="32004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chemeClr val="tx2"/>
                  </a:solidFill>
                </a:rPr>
                <a:t>Base com inconsistências</a:t>
              </a:r>
              <a:endParaRPr lang="en-US" sz="1500" dirty="0"/>
            </a:p>
          </p:txBody>
        </p:sp>
        <p:sp>
          <p:nvSpPr>
            <p:cNvPr id="44" name="s13_r5_v"/>
            <p:cNvSpPr txBox="1"/>
            <p:nvPr/>
          </p:nvSpPr>
          <p:spPr>
            <a:xfrm>
              <a:off x="8266176" y="4782312"/>
              <a:ext cx="32004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chemeClr val="tx1"/>
                  </a:solidFill>
                </a:rPr>
                <a:t>2.435 ha</a:t>
              </a:r>
              <a:endParaRPr lang="en-US" sz="2200" dirty="0"/>
            </a:p>
          </p:txBody>
        </p:sp>
        <p:sp>
          <p:nvSpPr>
            <p:cNvPr id="45" name="s13_r5_d"/>
            <p:cNvSpPr txBox="1"/>
            <p:nvPr/>
          </p:nvSpPr>
          <p:spPr>
            <a:xfrm>
              <a:off x="8266176" y="5221224"/>
              <a:ext cx="32004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de diferença no quadro de vinhaça localizada (B26 × B27:B29)</a:t>
              </a:r>
              <a:endParaRPr lang="en-US" sz="1200" dirty="0"/>
            </a:p>
          </p:txBody>
        </p:sp>
      </p:grpSp>
      <p:sp>
        <p:nvSpPr>
          <p:cNvPr id="46" name="s13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classificação por impacto — ALTO: mais de 2.000 t ou impede a decisão; MÉDIO: demais. A planilha não permite estimar probabilidade, por isso não há matriz.</a:t>
            </a:r>
            <a:endParaRPr lang="en-US" sz="10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PLANO DE AÇÃO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Seis frentes para fechar o abastecimento da safra</a:t>
            </a:r>
            <a:endParaRPr lang="en-US" sz="3000" dirty="0"/>
          </a:p>
        </p:txBody>
      </p:sp>
      <p:grpSp>
        <p:nvGrpSpPr>
          <p:cNvPr id="39" name="s14_cab">
            <a:extLst>
              <a:ext uri="{FF2B5EF4-FFF2-40B4-BE49-F238E27FC236}">
                <a16:creationId xmlns:a16="http://schemas.microsoft.com/office/drawing/2014/main" id="{EA662EB7-6C03-969F-1378-45B6570BF843}"/>
              </a:ext>
            </a:extLst>
          </p:cNvPr>
          <p:cNvGrpSpPr/>
          <p:nvPr/>
        </p:nvGrpSpPr>
        <p:grpSpPr>
          <a:xfrm>
            <a:off x="1188720" y="1463040"/>
            <a:ext cx="10451592" cy="274320"/>
            <a:chOff x="1188720" y="1463040"/>
            <a:chExt cx="10451592" cy="274320"/>
          </a:xfrm>
        </p:grpSpPr>
        <p:sp>
          <p:nvSpPr>
            <p:cNvPr id="4" name="s14_h1"/>
            <p:cNvSpPr txBox="1"/>
            <p:nvPr/>
          </p:nvSpPr>
          <p:spPr>
            <a:xfrm>
              <a:off x="1188720" y="1463040"/>
              <a:ext cx="27432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6"/>
                  </a:solidFill>
                </a:rPr>
                <a:t>Frente</a:t>
              </a:r>
              <a:endParaRPr lang="en-US" sz="1200" dirty="0"/>
            </a:p>
          </p:txBody>
        </p:sp>
        <p:sp>
          <p:nvSpPr>
            <p:cNvPr id="5" name="s14_h2"/>
            <p:cNvSpPr txBox="1"/>
            <p:nvPr/>
          </p:nvSpPr>
          <p:spPr>
            <a:xfrm>
              <a:off x="4251960" y="1463040"/>
              <a:ext cx="49377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6"/>
                  </a:solidFill>
                </a:rPr>
                <a:t>O que fazer</a:t>
              </a:r>
              <a:endParaRPr lang="en-US" sz="1200" dirty="0"/>
            </a:p>
          </p:txBody>
        </p:sp>
        <p:sp>
          <p:nvSpPr>
            <p:cNvPr id="6" name="s14_h3"/>
            <p:cNvSpPr txBox="1"/>
            <p:nvPr/>
          </p:nvSpPr>
          <p:spPr>
            <a:xfrm>
              <a:off x="9189720" y="1463040"/>
              <a:ext cx="245059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accent6"/>
                  </a:solidFill>
                </a:rPr>
                <a:t>Área sugerida  ·  prazo</a:t>
              </a:r>
              <a:endParaRPr lang="en-US" sz="1200" dirty="0"/>
            </a:p>
          </p:txBody>
        </p:sp>
      </p:grpSp>
      <p:grpSp>
        <p:nvGrpSpPr>
          <p:cNvPr id="40" name="s14_a0">
            <a:extLst>
              <a:ext uri="{FF2B5EF4-FFF2-40B4-BE49-F238E27FC236}">
                <a16:creationId xmlns:a16="http://schemas.microsoft.com/office/drawing/2014/main" id="{103C0BC7-4BF4-7E49-584B-17F853EEB8A7}"/>
              </a:ext>
            </a:extLst>
          </p:cNvPr>
          <p:cNvGrpSpPr/>
          <p:nvPr/>
        </p:nvGrpSpPr>
        <p:grpSpPr>
          <a:xfrm>
            <a:off x="548640" y="1810512"/>
            <a:ext cx="11091672" cy="621792"/>
            <a:chOff x="548640" y="1810512"/>
            <a:chExt cx="11091672" cy="621792"/>
          </a:xfrm>
        </p:grpSpPr>
        <p:sp>
          <p:nvSpPr>
            <p:cNvPr id="7" name="s14_a0_bg"/>
            <p:cNvSpPr/>
            <p:nvPr/>
          </p:nvSpPr>
          <p:spPr>
            <a:xfrm>
              <a:off x="548640" y="1810512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chemeClr val="bg2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8" name="s14_a0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800" y="1920240"/>
              <a:ext cx="402336" cy="402336"/>
            </a:xfrm>
            <a:prstGeom prst="rect">
              <a:avLst/>
            </a:prstGeom>
          </p:spPr>
        </p:pic>
        <p:sp>
          <p:nvSpPr>
            <p:cNvPr id="9" name="s14_a0_t"/>
            <p:cNvSpPr txBox="1"/>
            <p:nvPr/>
          </p:nvSpPr>
          <p:spPr>
            <a:xfrm>
              <a:off x="1188720" y="1810512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1. Validar a demanda agrícola</a:t>
              </a:r>
              <a:endParaRPr lang="en-US" sz="1400" dirty="0"/>
            </a:p>
          </p:txBody>
        </p:sp>
        <p:sp>
          <p:nvSpPr>
            <p:cNvPr id="10" name="s14_a0_d"/>
            <p:cNvSpPr txBox="1"/>
            <p:nvPr/>
          </p:nvSpPr>
          <p:spPr>
            <a:xfrm>
              <a:off x="4251960" y="1810512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Confirmar 11.859 ha a adubar, 3.077 ha de cana bisada e os dias de vinhaça com K; corrigir o quadro de localizada.</a:t>
              </a:r>
              <a:endParaRPr lang="en-US" sz="1200" dirty="0"/>
            </a:p>
          </p:txBody>
        </p:sp>
        <p:sp>
          <p:nvSpPr>
            <p:cNvPr id="11" name="s14_a0_a"/>
            <p:cNvSpPr txBox="1"/>
            <p:nvPr/>
          </p:nvSpPr>
          <p:spPr>
            <a:xfrm>
              <a:off x="9189720" y="1810512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Planejamento Agrícola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grpSp>
        <p:nvGrpSpPr>
          <p:cNvPr id="41" name="s14_a1">
            <a:extLst>
              <a:ext uri="{FF2B5EF4-FFF2-40B4-BE49-F238E27FC236}">
                <a16:creationId xmlns:a16="http://schemas.microsoft.com/office/drawing/2014/main" id="{60C1558B-915C-E683-0147-9B18F7CD4DFC}"/>
              </a:ext>
            </a:extLst>
          </p:cNvPr>
          <p:cNvGrpSpPr/>
          <p:nvPr/>
        </p:nvGrpSpPr>
        <p:grpSpPr>
          <a:xfrm>
            <a:off x="548640" y="2505456"/>
            <a:ext cx="11091672" cy="621792"/>
            <a:chOff x="548640" y="2505456"/>
            <a:chExt cx="11091672" cy="621792"/>
          </a:xfrm>
        </p:grpSpPr>
        <p:sp>
          <p:nvSpPr>
            <p:cNvPr id="12" name="s14_a1_bg"/>
            <p:cNvSpPr/>
            <p:nvPr/>
          </p:nvSpPr>
          <p:spPr>
            <a:xfrm>
              <a:off x="548640" y="2505456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13" name="s14_a1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615184"/>
              <a:ext cx="402336" cy="402336"/>
            </a:xfrm>
            <a:prstGeom prst="rect">
              <a:avLst/>
            </a:prstGeom>
          </p:spPr>
        </p:pic>
        <p:sp>
          <p:nvSpPr>
            <p:cNvPr id="14" name="s14_a1_t"/>
            <p:cNvSpPr txBox="1"/>
            <p:nvPr/>
          </p:nvSpPr>
          <p:spPr>
            <a:xfrm>
              <a:off x="1188720" y="2505456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2. Consolidar os volumes</a:t>
              </a:r>
              <a:endParaRPr lang="en-US" sz="1400" dirty="0"/>
            </a:p>
          </p:txBody>
        </p:sp>
        <p:sp>
          <p:nvSpPr>
            <p:cNvPr id="15" name="s14_a1_d"/>
            <p:cNvSpPr txBox="1"/>
            <p:nvPr/>
          </p:nvSpPr>
          <p:spPr>
            <a:xfrm>
              <a:off x="4251960" y="2505456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Escolher o cenário (A ou B) e fixar o 16-00-20 a comprar; decidir se o plantio de 2.400 ha entra no balanço.</a:t>
              </a:r>
              <a:endParaRPr lang="en-US" sz="1200" dirty="0"/>
            </a:p>
          </p:txBody>
        </p:sp>
        <p:sp>
          <p:nvSpPr>
            <p:cNvPr id="16" name="s14_a1_a"/>
            <p:cNvSpPr txBox="1"/>
            <p:nvPr/>
          </p:nvSpPr>
          <p:spPr>
            <a:xfrm>
              <a:off x="9189720" y="2505456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Planejamento Agrícola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grpSp>
        <p:nvGrpSpPr>
          <p:cNvPr id="42" name="s14_a2">
            <a:extLst>
              <a:ext uri="{FF2B5EF4-FFF2-40B4-BE49-F238E27FC236}">
                <a16:creationId xmlns:a16="http://schemas.microsoft.com/office/drawing/2014/main" id="{043A250C-0367-D1F5-1662-70E87247625E}"/>
              </a:ext>
            </a:extLst>
          </p:cNvPr>
          <p:cNvGrpSpPr/>
          <p:nvPr/>
        </p:nvGrpSpPr>
        <p:grpSpPr>
          <a:xfrm>
            <a:off x="548640" y="3200400"/>
            <a:ext cx="11091672" cy="621792"/>
            <a:chOff x="548640" y="3200400"/>
            <a:chExt cx="11091672" cy="621792"/>
          </a:xfrm>
        </p:grpSpPr>
        <p:sp>
          <p:nvSpPr>
            <p:cNvPr id="17" name="s14_a2_bg"/>
            <p:cNvSpPr/>
            <p:nvPr/>
          </p:nvSpPr>
          <p:spPr>
            <a:xfrm>
              <a:off x="548640" y="3200400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chemeClr val="bg2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18" name="s14_a2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" y="3310128"/>
              <a:ext cx="402336" cy="402336"/>
            </a:xfrm>
            <a:prstGeom prst="rect">
              <a:avLst/>
            </a:prstGeom>
          </p:spPr>
        </p:pic>
        <p:sp>
          <p:nvSpPr>
            <p:cNvPr id="19" name="s14_a2_t"/>
            <p:cNvSpPr txBox="1"/>
            <p:nvPr/>
          </p:nvSpPr>
          <p:spPr>
            <a:xfrm>
              <a:off x="1188720" y="3200400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3. Rever estoque e contratos</a:t>
              </a:r>
              <a:endParaRPr lang="en-US" sz="1400" dirty="0"/>
            </a:p>
          </p:txBody>
        </p:sp>
        <p:sp>
          <p:nvSpPr>
            <p:cNvPr id="20" name="s14_a2_d"/>
            <p:cNvSpPr txBox="1"/>
            <p:nvPr/>
          </p:nvSpPr>
          <p:spPr>
            <a:xfrm>
              <a:off x="4251960" y="3200400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Conferir 1.132 t de 16-00-20 e 357 t de 46-00-00; obter datas das 3.180 t a receber.</a:t>
              </a:r>
              <a:endParaRPr lang="en-US" sz="1200" dirty="0"/>
            </a:p>
          </p:txBody>
        </p:sp>
        <p:sp>
          <p:nvSpPr>
            <p:cNvPr id="21" name="s14_a2_a"/>
            <p:cNvSpPr txBox="1"/>
            <p:nvPr/>
          </p:nvSpPr>
          <p:spPr>
            <a:xfrm>
              <a:off x="9189720" y="3200400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Suprimentos e Almoxarifado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grpSp>
        <p:nvGrpSpPr>
          <p:cNvPr id="43" name="s14_a3">
            <a:extLst>
              <a:ext uri="{FF2B5EF4-FFF2-40B4-BE49-F238E27FC236}">
                <a16:creationId xmlns:a16="http://schemas.microsoft.com/office/drawing/2014/main" id="{43B9FB0F-C637-EFBC-9E11-F62DBED49CF8}"/>
              </a:ext>
            </a:extLst>
          </p:cNvPr>
          <p:cNvGrpSpPr/>
          <p:nvPr/>
        </p:nvGrpSpPr>
        <p:grpSpPr>
          <a:xfrm>
            <a:off x="548640" y="3895344"/>
            <a:ext cx="11091672" cy="621792"/>
            <a:chOff x="548640" y="3895344"/>
            <a:chExt cx="11091672" cy="621792"/>
          </a:xfrm>
        </p:grpSpPr>
        <p:sp>
          <p:nvSpPr>
            <p:cNvPr id="22" name="s14_a3_bg"/>
            <p:cNvSpPr/>
            <p:nvPr/>
          </p:nvSpPr>
          <p:spPr>
            <a:xfrm>
              <a:off x="548640" y="3895344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23" name="s14_a3_ic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5800" y="4005072"/>
              <a:ext cx="402336" cy="402336"/>
            </a:xfrm>
            <a:prstGeom prst="rect">
              <a:avLst/>
            </a:prstGeom>
          </p:spPr>
        </p:pic>
        <p:sp>
          <p:nvSpPr>
            <p:cNvPr id="24" name="s14_a3_t"/>
            <p:cNvSpPr txBox="1"/>
            <p:nvPr/>
          </p:nvSpPr>
          <p:spPr>
            <a:xfrm>
              <a:off x="1188720" y="3895344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4. Planejar as compras</a:t>
              </a:r>
              <a:endParaRPr lang="en-US" sz="1400" dirty="0"/>
            </a:p>
          </p:txBody>
        </p:sp>
        <p:sp>
          <p:nvSpPr>
            <p:cNvPr id="25" name="s14_a3_d"/>
            <p:cNvSpPr txBox="1"/>
            <p:nvPr/>
          </p:nvSpPr>
          <p:spPr>
            <a:xfrm>
              <a:off x="4251960" y="3895344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Cotar 2.260–2.544 t de 16-00-20; negociar o 46-00-00 a receber; avaliar N do excedente + fonte de K.</a:t>
              </a:r>
              <a:endParaRPr lang="en-US" sz="1200" dirty="0"/>
            </a:p>
          </p:txBody>
        </p:sp>
        <p:sp>
          <p:nvSpPr>
            <p:cNvPr id="26" name="s14_a3_a"/>
            <p:cNvSpPr txBox="1"/>
            <p:nvPr/>
          </p:nvSpPr>
          <p:spPr>
            <a:xfrm>
              <a:off x="9189720" y="3895344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Suprimentos e Agronomia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grpSp>
        <p:nvGrpSpPr>
          <p:cNvPr id="44" name="s14_a4">
            <a:extLst>
              <a:ext uri="{FF2B5EF4-FFF2-40B4-BE49-F238E27FC236}">
                <a16:creationId xmlns:a16="http://schemas.microsoft.com/office/drawing/2014/main" id="{004F7331-ED63-EDB2-6624-36BB4C2E3AB9}"/>
              </a:ext>
            </a:extLst>
          </p:cNvPr>
          <p:cNvGrpSpPr/>
          <p:nvPr/>
        </p:nvGrpSpPr>
        <p:grpSpPr>
          <a:xfrm>
            <a:off x="548640" y="4590288"/>
            <a:ext cx="11091672" cy="621792"/>
            <a:chOff x="548640" y="4590288"/>
            <a:chExt cx="11091672" cy="621792"/>
          </a:xfrm>
        </p:grpSpPr>
        <p:sp>
          <p:nvSpPr>
            <p:cNvPr id="27" name="s14_a4_bg"/>
            <p:cNvSpPr/>
            <p:nvPr/>
          </p:nvSpPr>
          <p:spPr>
            <a:xfrm>
              <a:off x="548640" y="4590288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chemeClr val="bg2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28" name="s14_a4_ic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5800" y="4700016"/>
              <a:ext cx="402336" cy="402336"/>
            </a:xfrm>
            <a:prstGeom prst="rect">
              <a:avLst/>
            </a:prstGeom>
          </p:spPr>
        </p:pic>
        <p:sp>
          <p:nvSpPr>
            <p:cNvPr id="29" name="s14_a4_t"/>
            <p:cNvSpPr txBox="1"/>
            <p:nvPr/>
          </p:nvSpPr>
          <p:spPr>
            <a:xfrm>
              <a:off x="1188720" y="4590288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5. Programar entrega e armazenagem</a:t>
              </a:r>
              <a:endParaRPr lang="en-US" sz="1400" dirty="0"/>
            </a:p>
          </p:txBody>
        </p:sp>
        <p:sp>
          <p:nvSpPr>
            <p:cNvPr id="30" name="s14_a4_d"/>
            <p:cNvSpPr txBox="1"/>
            <p:nvPr/>
          </p:nvSpPr>
          <p:spPr>
            <a:xfrm>
              <a:off x="4251960" y="4590288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Escalonar a chegada antes de ~20/11 (premissa linear) e checar a capacidade de armazém.</a:t>
              </a:r>
              <a:endParaRPr lang="en-US" sz="1200" dirty="0"/>
            </a:p>
          </p:txBody>
        </p:sp>
        <p:sp>
          <p:nvSpPr>
            <p:cNvPr id="31" name="s14_a4_a"/>
            <p:cNvSpPr txBox="1"/>
            <p:nvPr/>
          </p:nvSpPr>
          <p:spPr>
            <a:xfrm>
              <a:off x="9189720" y="4590288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Logística e Suprimentos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grpSp>
        <p:nvGrpSpPr>
          <p:cNvPr id="45" name="s14_a5">
            <a:extLst>
              <a:ext uri="{FF2B5EF4-FFF2-40B4-BE49-F238E27FC236}">
                <a16:creationId xmlns:a16="http://schemas.microsoft.com/office/drawing/2014/main" id="{7F23291F-FB8D-EB2E-91B8-E5A480BC147A}"/>
              </a:ext>
            </a:extLst>
          </p:cNvPr>
          <p:cNvGrpSpPr/>
          <p:nvPr/>
        </p:nvGrpSpPr>
        <p:grpSpPr>
          <a:xfrm>
            <a:off x="548640" y="5285232"/>
            <a:ext cx="11091672" cy="621792"/>
            <a:chOff x="548640" y="5285232"/>
            <a:chExt cx="11091672" cy="621792"/>
          </a:xfrm>
        </p:grpSpPr>
        <p:sp>
          <p:nvSpPr>
            <p:cNvPr id="32" name="s14_a5_bg"/>
            <p:cNvSpPr/>
            <p:nvPr/>
          </p:nvSpPr>
          <p:spPr>
            <a:xfrm>
              <a:off x="548640" y="5285232"/>
              <a:ext cx="11091672" cy="621792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CE4D8"/>
              </a:solidFill>
              <a:prstDash val="solid"/>
            </a:ln>
          </p:spPr>
        </p:sp>
        <p:pic>
          <p:nvPicPr>
            <p:cNvPr id="33" name="s14_a5_ic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5800" y="5394960"/>
              <a:ext cx="402336" cy="402336"/>
            </a:xfrm>
            <a:prstGeom prst="rect">
              <a:avLst/>
            </a:prstGeom>
          </p:spPr>
        </p:pic>
        <p:sp>
          <p:nvSpPr>
            <p:cNvPr id="34" name="s14_a5_t"/>
            <p:cNvSpPr txBox="1"/>
            <p:nvPr/>
          </p:nvSpPr>
          <p:spPr>
            <a:xfrm>
              <a:off x="1188720" y="5285232"/>
              <a:ext cx="29718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tx2"/>
                  </a:solidFill>
                </a:rPr>
                <a:t>6. Acompanhar a execução</a:t>
              </a:r>
              <a:endParaRPr lang="en-US" sz="1400" dirty="0"/>
            </a:p>
          </p:txBody>
        </p:sp>
        <p:sp>
          <p:nvSpPr>
            <p:cNvPr id="35" name="s14_a5_d"/>
            <p:cNvSpPr txBox="1"/>
            <p:nvPr/>
          </p:nvSpPr>
          <p:spPr>
            <a:xfrm>
              <a:off x="4251960" y="5285232"/>
              <a:ext cx="480060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</a:rPr>
                <a:t>Painel semanal: comprado, entregue, aplicado, saldo a comprar e custo previsto × realizado.</a:t>
              </a:r>
              <a:endParaRPr lang="en-US" sz="1200" dirty="0"/>
            </a:p>
          </p:txBody>
        </p:sp>
        <p:sp>
          <p:nvSpPr>
            <p:cNvPr id="36" name="s14_a5_a"/>
            <p:cNvSpPr txBox="1"/>
            <p:nvPr/>
          </p:nvSpPr>
          <p:spPr>
            <a:xfrm>
              <a:off x="9189720" y="5285232"/>
              <a:ext cx="237744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chemeClr val="tx1"/>
                  </a:solidFill>
                </a:rPr>
                <a:t>Planejamento Agrícola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prazo a definir</a:t>
              </a:r>
              <a:endParaRPr lang="en-US" sz="1200" dirty="0"/>
            </a:p>
          </p:txBody>
        </p:sp>
      </p:grpSp>
      <p:sp>
        <p:nvSpPr>
          <p:cNvPr id="37" name="s14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áreas sugeridas pela natureza de cada frente; responsáveis nominais e datas não constam da planilha e ficam a definir pela diretoria.</a:t>
            </a:r>
            <a:endParaRPr lang="en-US" sz="1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8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PAINEL DE CONTROLE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5 de 8 indicadores já podem ser medidos</a:t>
            </a:r>
            <a:endParaRPr lang="en-US" sz="3000" dirty="0"/>
          </a:p>
        </p:txBody>
      </p:sp>
      <p:grpSp>
        <p:nvGrpSpPr>
          <p:cNvPr id="54" name="s15_k0">
            <a:extLst>
              <a:ext uri="{FF2B5EF4-FFF2-40B4-BE49-F238E27FC236}">
                <a16:creationId xmlns:a16="http://schemas.microsoft.com/office/drawing/2014/main" id="{7910B702-DD86-21CB-B134-EC54DDF6FED1}"/>
              </a:ext>
            </a:extLst>
          </p:cNvPr>
          <p:cNvGrpSpPr/>
          <p:nvPr/>
        </p:nvGrpSpPr>
        <p:grpSpPr>
          <a:xfrm>
            <a:off x="548640" y="1481328"/>
            <a:ext cx="2651760" cy="2103120"/>
            <a:chOff x="548640" y="1481328"/>
            <a:chExt cx="2651760" cy="2103120"/>
          </a:xfrm>
        </p:grpSpPr>
        <p:sp>
          <p:nvSpPr>
            <p:cNvPr id="4" name="s15_k0_bg"/>
            <p:cNvSpPr/>
            <p:nvPr/>
          </p:nvSpPr>
          <p:spPr>
            <a:xfrm>
              <a:off x="548640" y="1481328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sp>
          <p:nvSpPr>
            <p:cNvPr id="5" name="s15_k0_r"/>
            <p:cNvSpPr txBox="1"/>
            <p:nvPr/>
          </p:nvSpPr>
          <p:spPr>
            <a:xfrm>
              <a:off x="731520" y="166420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Necessidade total prevista</a:t>
              </a:r>
              <a:endParaRPr lang="en-US" sz="1300" dirty="0"/>
            </a:p>
          </p:txBody>
        </p:sp>
        <p:sp>
          <p:nvSpPr>
            <p:cNvPr id="6" name="s15_k0_v"/>
            <p:cNvSpPr txBox="1"/>
            <p:nvPr/>
          </p:nvSpPr>
          <p:spPr>
            <a:xfrm>
              <a:off x="731520" y="2194560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/>
                  </a:solidFill>
                </a:rPr>
                <a:t>5.536 t</a:t>
              </a:r>
              <a:endParaRPr lang="en-US" sz="2800" dirty="0"/>
            </a:p>
          </p:txBody>
        </p:sp>
        <p:sp>
          <p:nvSpPr>
            <p:cNvPr id="7" name="s15_k0_s"/>
            <p:cNvSpPr txBox="1"/>
            <p:nvPr/>
          </p:nvSpPr>
          <p:spPr>
            <a:xfrm>
              <a:off x="731520" y="271576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cenário A · 5.706 t no B</a:t>
              </a:r>
              <a:endParaRPr lang="en-US" sz="1100" dirty="0"/>
            </a:p>
          </p:txBody>
        </p:sp>
        <p:pic>
          <p:nvPicPr>
            <p:cNvPr id="8" name="s15_k0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3200400"/>
              <a:ext cx="237744" cy="237744"/>
            </a:xfrm>
            <a:prstGeom prst="rect">
              <a:avLst/>
            </a:prstGeom>
          </p:spPr>
        </p:pic>
        <p:sp>
          <p:nvSpPr>
            <p:cNvPr id="9" name="s15_k0_st"/>
            <p:cNvSpPr txBox="1"/>
            <p:nvPr/>
          </p:nvSpPr>
          <p:spPr>
            <a:xfrm>
              <a:off x="1042416" y="318211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mensurável hoje</a:t>
              </a:r>
              <a:endParaRPr lang="en-US" sz="1100" dirty="0"/>
            </a:p>
          </p:txBody>
        </p:sp>
      </p:grpSp>
      <p:grpSp>
        <p:nvGrpSpPr>
          <p:cNvPr id="55" name="s15_k1">
            <a:extLst>
              <a:ext uri="{FF2B5EF4-FFF2-40B4-BE49-F238E27FC236}">
                <a16:creationId xmlns:a16="http://schemas.microsoft.com/office/drawing/2014/main" id="{852DEDB9-F539-7666-26CC-DEE68A56590D}"/>
              </a:ext>
            </a:extLst>
          </p:cNvPr>
          <p:cNvGrpSpPr/>
          <p:nvPr/>
        </p:nvGrpSpPr>
        <p:grpSpPr>
          <a:xfrm>
            <a:off x="3364992" y="1481328"/>
            <a:ext cx="2651760" cy="2103120"/>
            <a:chOff x="3364992" y="1481328"/>
            <a:chExt cx="2651760" cy="2103120"/>
          </a:xfrm>
        </p:grpSpPr>
        <p:sp>
          <p:nvSpPr>
            <p:cNvPr id="10" name="s15_k1_bg"/>
            <p:cNvSpPr/>
            <p:nvPr/>
          </p:nvSpPr>
          <p:spPr>
            <a:xfrm>
              <a:off x="3364992" y="1481328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sp>
          <p:nvSpPr>
            <p:cNvPr id="11" name="s15_k1_r"/>
            <p:cNvSpPr txBox="1"/>
            <p:nvPr/>
          </p:nvSpPr>
          <p:spPr>
            <a:xfrm>
              <a:off x="3547872" y="166420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Volume comprado</a:t>
              </a:r>
              <a:endParaRPr lang="en-US" sz="1300" dirty="0"/>
            </a:p>
          </p:txBody>
        </p:sp>
        <p:sp>
          <p:nvSpPr>
            <p:cNvPr id="12" name="s15_k1_v"/>
            <p:cNvSpPr txBox="1"/>
            <p:nvPr/>
          </p:nvSpPr>
          <p:spPr>
            <a:xfrm>
              <a:off x="3547872" y="2194560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/>
                  </a:solidFill>
                </a:rPr>
                <a:t>3.180 t</a:t>
              </a:r>
              <a:endParaRPr lang="en-US" sz="2800" dirty="0"/>
            </a:p>
          </p:txBody>
        </p:sp>
        <p:sp>
          <p:nvSpPr>
            <p:cNvPr id="13" name="s15_k1_s"/>
            <p:cNvSpPr txBox="1"/>
            <p:nvPr/>
          </p:nvSpPr>
          <p:spPr>
            <a:xfrm>
              <a:off x="3547872" y="271576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a receber (2.030 t de 16-00-20 + 1.150 t de 46-00-00)</a:t>
              </a:r>
              <a:endParaRPr lang="en-US" sz="1100" dirty="0"/>
            </a:p>
          </p:txBody>
        </p:sp>
        <p:pic>
          <p:nvPicPr>
            <p:cNvPr id="14" name="s15_k1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47872" y="3200400"/>
              <a:ext cx="237744" cy="237744"/>
            </a:xfrm>
            <a:prstGeom prst="rect">
              <a:avLst/>
            </a:prstGeom>
          </p:spPr>
        </p:pic>
        <p:sp>
          <p:nvSpPr>
            <p:cNvPr id="15" name="s15_k1_st"/>
            <p:cNvSpPr txBox="1"/>
            <p:nvPr/>
          </p:nvSpPr>
          <p:spPr>
            <a:xfrm>
              <a:off x="3858768" y="318211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mensurável hoje</a:t>
              </a:r>
              <a:endParaRPr lang="en-US" sz="1100" dirty="0"/>
            </a:p>
          </p:txBody>
        </p:sp>
      </p:grpSp>
      <p:grpSp>
        <p:nvGrpSpPr>
          <p:cNvPr id="56" name="s15_k2">
            <a:extLst>
              <a:ext uri="{FF2B5EF4-FFF2-40B4-BE49-F238E27FC236}">
                <a16:creationId xmlns:a16="http://schemas.microsoft.com/office/drawing/2014/main" id="{D886995D-54A1-A614-493E-C01C2BEDC4C7}"/>
              </a:ext>
            </a:extLst>
          </p:cNvPr>
          <p:cNvGrpSpPr/>
          <p:nvPr/>
        </p:nvGrpSpPr>
        <p:grpSpPr>
          <a:xfrm>
            <a:off x="6181344" y="1481328"/>
            <a:ext cx="2651760" cy="2103120"/>
            <a:chOff x="6181344" y="1481328"/>
            <a:chExt cx="2651760" cy="2103120"/>
          </a:xfrm>
        </p:grpSpPr>
        <p:sp>
          <p:nvSpPr>
            <p:cNvPr id="16" name="s15_k2_bg"/>
            <p:cNvSpPr/>
            <p:nvPr/>
          </p:nvSpPr>
          <p:spPr>
            <a:xfrm>
              <a:off x="6181344" y="1481328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5875">
              <a:solidFill>
                <a:schemeClr val="accent3"/>
              </a:solidFill>
              <a:prstDash val="dash"/>
            </a:ln>
          </p:spPr>
        </p:sp>
        <p:sp>
          <p:nvSpPr>
            <p:cNvPr id="17" name="s15_k2_r"/>
            <p:cNvSpPr txBox="1"/>
            <p:nvPr/>
          </p:nvSpPr>
          <p:spPr>
            <a:xfrm>
              <a:off x="6364224" y="166420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Volume entregue</a:t>
              </a:r>
              <a:endParaRPr lang="en-US" sz="1300" dirty="0"/>
            </a:p>
          </p:txBody>
        </p:sp>
        <p:sp>
          <p:nvSpPr>
            <p:cNvPr id="18" name="s15_k2_v"/>
            <p:cNvSpPr txBox="1"/>
            <p:nvPr/>
          </p:nvSpPr>
          <p:spPr>
            <a:xfrm>
              <a:off x="6364224" y="2194560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accent6"/>
                  </a:solidFill>
                </a:rPr>
                <a:t>—</a:t>
              </a:r>
              <a:endParaRPr lang="en-US" sz="2800" dirty="0"/>
            </a:p>
          </p:txBody>
        </p:sp>
        <p:sp>
          <p:nvSpPr>
            <p:cNvPr id="19" name="s15_k2_s"/>
            <p:cNvSpPr txBox="1"/>
            <p:nvPr/>
          </p:nvSpPr>
          <p:spPr>
            <a:xfrm>
              <a:off x="6364224" y="271576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depende do registro de recebimentos</a:t>
              </a:r>
              <a:endParaRPr lang="en-US" sz="1100" dirty="0"/>
            </a:p>
          </p:txBody>
        </p:sp>
        <p:pic>
          <p:nvPicPr>
            <p:cNvPr id="20" name="s15_k2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64224" y="3200400"/>
              <a:ext cx="237744" cy="237744"/>
            </a:xfrm>
            <a:prstGeom prst="rect">
              <a:avLst/>
            </a:prstGeom>
          </p:spPr>
        </p:pic>
        <p:sp>
          <p:nvSpPr>
            <p:cNvPr id="21" name="s15_k2_st"/>
            <p:cNvSpPr txBox="1"/>
            <p:nvPr/>
          </p:nvSpPr>
          <p:spPr>
            <a:xfrm>
              <a:off x="6675120" y="318211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depende de dado</a:t>
              </a:r>
              <a:endParaRPr lang="en-US" sz="1100" dirty="0"/>
            </a:p>
          </p:txBody>
        </p:sp>
      </p:grpSp>
      <p:grpSp>
        <p:nvGrpSpPr>
          <p:cNvPr id="57" name="s15_k3">
            <a:extLst>
              <a:ext uri="{FF2B5EF4-FFF2-40B4-BE49-F238E27FC236}">
                <a16:creationId xmlns:a16="http://schemas.microsoft.com/office/drawing/2014/main" id="{E805E6D2-E052-8F6F-2256-BAB6B60AB272}"/>
              </a:ext>
            </a:extLst>
          </p:cNvPr>
          <p:cNvGrpSpPr/>
          <p:nvPr/>
        </p:nvGrpSpPr>
        <p:grpSpPr>
          <a:xfrm>
            <a:off x="8997696" y="1481328"/>
            <a:ext cx="2651760" cy="2103120"/>
            <a:chOff x="8997696" y="1481328"/>
            <a:chExt cx="2651760" cy="2103120"/>
          </a:xfrm>
        </p:grpSpPr>
        <p:sp>
          <p:nvSpPr>
            <p:cNvPr id="22" name="s15_k3_bg"/>
            <p:cNvSpPr/>
            <p:nvPr/>
          </p:nvSpPr>
          <p:spPr>
            <a:xfrm>
              <a:off x="8997696" y="1481328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sp>
          <p:nvSpPr>
            <p:cNvPr id="23" name="s15_k3_r"/>
            <p:cNvSpPr txBox="1"/>
            <p:nvPr/>
          </p:nvSpPr>
          <p:spPr>
            <a:xfrm>
              <a:off x="9180576" y="166420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Área já adubada</a:t>
              </a:r>
              <a:endParaRPr lang="en-US" sz="1300" dirty="0"/>
            </a:p>
          </p:txBody>
        </p:sp>
        <p:sp>
          <p:nvSpPr>
            <p:cNvPr id="24" name="s15_k3_v"/>
            <p:cNvSpPr txBox="1"/>
            <p:nvPr/>
          </p:nvSpPr>
          <p:spPr>
            <a:xfrm>
              <a:off x="9180576" y="2194560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/>
                  </a:solidFill>
                </a:rPr>
                <a:t>14.990 ha</a:t>
              </a:r>
              <a:endParaRPr lang="en-US" sz="2800" dirty="0"/>
            </a:p>
          </p:txBody>
        </p:sp>
        <p:sp>
          <p:nvSpPr>
            <p:cNvPr id="25" name="s15_k3_s"/>
            <p:cNvSpPr txBox="1"/>
            <p:nvPr/>
          </p:nvSpPr>
          <p:spPr>
            <a:xfrm>
              <a:off x="9180576" y="2715768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50% da área de tratos; t aplicadas só na localizada</a:t>
              </a:r>
              <a:endParaRPr lang="en-US" sz="1100" dirty="0"/>
            </a:p>
          </p:txBody>
        </p:sp>
        <p:pic>
          <p:nvPicPr>
            <p:cNvPr id="26" name="s15_k3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0576" y="3200400"/>
              <a:ext cx="237744" cy="237744"/>
            </a:xfrm>
            <a:prstGeom prst="rect">
              <a:avLst/>
            </a:prstGeom>
          </p:spPr>
        </p:pic>
        <p:sp>
          <p:nvSpPr>
            <p:cNvPr id="27" name="s15_k3_st"/>
            <p:cNvSpPr txBox="1"/>
            <p:nvPr/>
          </p:nvSpPr>
          <p:spPr>
            <a:xfrm>
              <a:off x="9491472" y="318211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mensurável hoje</a:t>
              </a:r>
              <a:endParaRPr lang="en-US" sz="1100" dirty="0"/>
            </a:p>
          </p:txBody>
        </p:sp>
      </p:grpSp>
      <p:grpSp>
        <p:nvGrpSpPr>
          <p:cNvPr id="58" name="s15_k4">
            <a:extLst>
              <a:ext uri="{FF2B5EF4-FFF2-40B4-BE49-F238E27FC236}">
                <a16:creationId xmlns:a16="http://schemas.microsoft.com/office/drawing/2014/main" id="{F3F51D4D-52B3-52BC-D7E0-339D00AA9C06}"/>
              </a:ext>
            </a:extLst>
          </p:cNvPr>
          <p:cNvGrpSpPr/>
          <p:nvPr/>
        </p:nvGrpSpPr>
        <p:grpSpPr>
          <a:xfrm>
            <a:off x="548640" y="3739896"/>
            <a:ext cx="2651760" cy="2103120"/>
            <a:chOff x="548640" y="3739896"/>
            <a:chExt cx="2651760" cy="2103120"/>
          </a:xfrm>
        </p:grpSpPr>
        <p:sp>
          <p:nvSpPr>
            <p:cNvPr id="28" name="s15_k4_bg"/>
            <p:cNvSpPr/>
            <p:nvPr/>
          </p:nvSpPr>
          <p:spPr>
            <a:xfrm>
              <a:off x="548640" y="3739896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sp>
          <p:nvSpPr>
            <p:cNvPr id="29" name="s15_k4_r"/>
            <p:cNvSpPr txBox="1"/>
            <p:nvPr/>
          </p:nvSpPr>
          <p:spPr>
            <a:xfrm>
              <a:off x="731520" y="3922776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Saldo a comprar</a:t>
              </a:r>
              <a:endParaRPr lang="en-US" sz="1300" dirty="0"/>
            </a:p>
          </p:txBody>
        </p:sp>
        <p:sp>
          <p:nvSpPr>
            <p:cNvPr id="30" name="s15_k4_v"/>
            <p:cNvSpPr txBox="1"/>
            <p:nvPr/>
          </p:nvSpPr>
          <p:spPr>
            <a:xfrm>
              <a:off x="731520" y="445312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/>
                  </a:solidFill>
                </a:rPr>
                <a:t>2.260 t</a:t>
              </a:r>
              <a:endParaRPr lang="en-US" sz="2800" dirty="0"/>
            </a:p>
          </p:txBody>
        </p:sp>
        <p:sp>
          <p:nvSpPr>
            <p:cNvPr id="31" name="s15_k4_s"/>
            <p:cNvSpPr txBox="1"/>
            <p:nvPr/>
          </p:nvSpPr>
          <p:spPr>
            <a:xfrm>
              <a:off x="731520" y="4974336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16-00-20, cenário A · 2.544 t no B</a:t>
              </a:r>
              <a:endParaRPr lang="en-US" sz="1100" dirty="0"/>
            </a:p>
          </p:txBody>
        </p:sp>
        <p:pic>
          <p:nvPicPr>
            <p:cNvPr id="32" name="s15_k4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1520" y="5458968"/>
              <a:ext cx="237744" cy="237744"/>
            </a:xfrm>
            <a:prstGeom prst="rect">
              <a:avLst/>
            </a:prstGeom>
          </p:spPr>
        </p:pic>
        <p:sp>
          <p:nvSpPr>
            <p:cNvPr id="33" name="s15_k4_st"/>
            <p:cNvSpPr txBox="1"/>
            <p:nvPr/>
          </p:nvSpPr>
          <p:spPr>
            <a:xfrm>
              <a:off x="1042416" y="54406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mensurável hoje</a:t>
              </a:r>
              <a:endParaRPr lang="en-US" sz="1100" dirty="0"/>
            </a:p>
          </p:txBody>
        </p:sp>
      </p:grpSp>
      <p:grpSp>
        <p:nvGrpSpPr>
          <p:cNvPr id="59" name="s15_k5">
            <a:extLst>
              <a:ext uri="{FF2B5EF4-FFF2-40B4-BE49-F238E27FC236}">
                <a16:creationId xmlns:a16="http://schemas.microsoft.com/office/drawing/2014/main" id="{B9FD1A71-538C-31D0-5EE2-6C7EBB3B0DB7}"/>
              </a:ext>
            </a:extLst>
          </p:cNvPr>
          <p:cNvGrpSpPr/>
          <p:nvPr/>
        </p:nvGrpSpPr>
        <p:grpSpPr>
          <a:xfrm>
            <a:off x="3364992" y="3739896"/>
            <a:ext cx="2651760" cy="2103120"/>
            <a:chOff x="3364992" y="3739896"/>
            <a:chExt cx="2651760" cy="2103120"/>
          </a:xfrm>
        </p:grpSpPr>
        <p:sp>
          <p:nvSpPr>
            <p:cNvPr id="34" name="s15_k5_bg"/>
            <p:cNvSpPr/>
            <p:nvPr/>
          </p:nvSpPr>
          <p:spPr>
            <a:xfrm>
              <a:off x="3364992" y="3739896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5875">
              <a:solidFill>
                <a:schemeClr val="accent3"/>
              </a:solidFill>
              <a:prstDash val="dash"/>
            </a:ln>
          </p:spPr>
        </p:sp>
        <p:sp>
          <p:nvSpPr>
            <p:cNvPr id="35" name="s15_k5_r"/>
            <p:cNvSpPr txBox="1"/>
            <p:nvPr/>
          </p:nvSpPr>
          <p:spPr>
            <a:xfrm>
              <a:off x="3547872" y="3922776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Aderência ao cronograma</a:t>
              </a:r>
              <a:endParaRPr lang="en-US" sz="1300" dirty="0"/>
            </a:p>
          </p:txBody>
        </p:sp>
        <p:sp>
          <p:nvSpPr>
            <p:cNvPr id="36" name="s15_k5_v"/>
            <p:cNvSpPr txBox="1"/>
            <p:nvPr/>
          </p:nvSpPr>
          <p:spPr>
            <a:xfrm>
              <a:off x="3547872" y="445312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accent6"/>
                  </a:solidFill>
                </a:rPr>
                <a:t>—</a:t>
              </a:r>
              <a:endParaRPr lang="en-US" sz="2800" dirty="0"/>
            </a:p>
          </p:txBody>
        </p:sp>
        <p:sp>
          <p:nvSpPr>
            <p:cNvPr id="37" name="s15_k5_s"/>
            <p:cNvSpPr txBox="1"/>
            <p:nvPr/>
          </p:nvSpPr>
          <p:spPr>
            <a:xfrm>
              <a:off x="3547872" y="4974336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depende do cronograma de entrega e de aplicação</a:t>
              </a:r>
              <a:endParaRPr lang="en-US" sz="1100" dirty="0"/>
            </a:p>
          </p:txBody>
        </p:sp>
        <p:pic>
          <p:nvPicPr>
            <p:cNvPr id="38" name="s15_k5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47872" y="5458968"/>
              <a:ext cx="237744" cy="237744"/>
            </a:xfrm>
            <a:prstGeom prst="rect">
              <a:avLst/>
            </a:prstGeom>
          </p:spPr>
        </p:pic>
        <p:sp>
          <p:nvSpPr>
            <p:cNvPr id="39" name="s15_k5_st"/>
            <p:cNvSpPr txBox="1"/>
            <p:nvPr/>
          </p:nvSpPr>
          <p:spPr>
            <a:xfrm>
              <a:off x="3858768" y="54406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depende de dado</a:t>
              </a:r>
              <a:endParaRPr lang="en-US" sz="1100" dirty="0"/>
            </a:p>
          </p:txBody>
        </p:sp>
      </p:grpSp>
      <p:grpSp>
        <p:nvGrpSpPr>
          <p:cNvPr id="60" name="s15_k6">
            <a:extLst>
              <a:ext uri="{FF2B5EF4-FFF2-40B4-BE49-F238E27FC236}">
                <a16:creationId xmlns:a16="http://schemas.microsoft.com/office/drawing/2014/main" id="{5B1F428A-D77D-2371-2AC6-DCFBCC2DBC4B}"/>
              </a:ext>
            </a:extLst>
          </p:cNvPr>
          <p:cNvGrpSpPr/>
          <p:nvPr/>
        </p:nvGrpSpPr>
        <p:grpSpPr>
          <a:xfrm>
            <a:off x="6181344" y="3739896"/>
            <a:ext cx="2651760" cy="2103120"/>
            <a:chOff x="6181344" y="3739896"/>
            <a:chExt cx="2651760" cy="2103120"/>
          </a:xfrm>
        </p:grpSpPr>
        <p:sp>
          <p:nvSpPr>
            <p:cNvPr id="40" name="s15_k6_bg"/>
            <p:cNvSpPr/>
            <p:nvPr/>
          </p:nvSpPr>
          <p:spPr>
            <a:xfrm>
              <a:off x="6181344" y="3739896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5875">
              <a:solidFill>
                <a:schemeClr val="accent3"/>
              </a:solidFill>
              <a:prstDash val="dash"/>
            </a:ln>
          </p:spPr>
        </p:sp>
        <p:sp>
          <p:nvSpPr>
            <p:cNvPr id="41" name="s15_k6_r"/>
            <p:cNvSpPr txBox="1"/>
            <p:nvPr/>
          </p:nvSpPr>
          <p:spPr>
            <a:xfrm>
              <a:off x="6364224" y="3922776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Custo previsto × realizado</a:t>
              </a:r>
              <a:endParaRPr lang="en-US" sz="1300" dirty="0"/>
            </a:p>
          </p:txBody>
        </p:sp>
        <p:sp>
          <p:nvSpPr>
            <p:cNvPr id="42" name="s15_k6_v"/>
            <p:cNvSpPr txBox="1"/>
            <p:nvPr/>
          </p:nvSpPr>
          <p:spPr>
            <a:xfrm>
              <a:off x="6364224" y="445312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accent6"/>
                  </a:solidFill>
                </a:rPr>
                <a:t>—</a:t>
              </a:r>
              <a:endParaRPr lang="en-US" sz="2800" dirty="0"/>
            </a:p>
          </p:txBody>
        </p:sp>
        <p:sp>
          <p:nvSpPr>
            <p:cNvPr id="43" name="s15_k6_s"/>
            <p:cNvSpPr txBox="1"/>
            <p:nvPr/>
          </p:nvSpPr>
          <p:spPr>
            <a:xfrm>
              <a:off x="6364224" y="4974336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depende de preços e notas fiscais</a:t>
              </a:r>
              <a:endParaRPr lang="en-US" sz="1100" dirty="0"/>
            </a:p>
          </p:txBody>
        </p:sp>
        <p:pic>
          <p:nvPicPr>
            <p:cNvPr id="44" name="s15_k6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64224" y="5458968"/>
              <a:ext cx="237744" cy="237744"/>
            </a:xfrm>
            <a:prstGeom prst="rect">
              <a:avLst/>
            </a:prstGeom>
          </p:spPr>
        </p:pic>
        <p:sp>
          <p:nvSpPr>
            <p:cNvPr id="45" name="s15_k6_st"/>
            <p:cNvSpPr txBox="1"/>
            <p:nvPr/>
          </p:nvSpPr>
          <p:spPr>
            <a:xfrm>
              <a:off x="6675120" y="54406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tx1"/>
                  </a:solidFill>
                </a:rPr>
                <a:t>depende de dado</a:t>
              </a:r>
              <a:endParaRPr lang="en-US" sz="1100" dirty="0"/>
            </a:p>
          </p:txBody>
        </p:sp>
      </p:grpSp>
      <p:grpSp>
        <p:nvGrpSpPr>
          <p:cNvPr id="61" name="s15_k7">
            <a:extLst>
              <a:ext uri="{FF2B5EF4-FFF2-40B4-BE49-F238E27FC236}">
                <a16:creationId xmlns:a16="http://schemas.microsoft.com/office/drawing/2014/main" id="{A35917FD-7FD9-0CEB-2D19-7BF340A61091}"/>
              </a:ext>
            </a:extLst>
          </p:cNvPr>
          <p:cNvGrpSpPr/>
          <p:nvPr/>
        </p:nvGrpSpPr>
        <p:grpSpPr>
          <a:xfrm>
            <a:off x="8997696" y="3739896"/>
            <a:ext cx="2651760" cy="2103120"/>
            <a:chOff x="8997696" y="3739896"/>
            <a:chExt cx="2651760" cy="2103120"/>
          </a:xfrm>
        </p:grpSpPr>
        <p:sp>
          <p:nvSpPr>
            <p:cNvPr id="46" name="s15_k7_bg"/>
            <p:cNvSpPr/>
            <p:nvPr/>
          </p:nvSpPr>
          <p:spPr>
            <a:xfrm>
              <a:off x="8997696" y="3739896"/>
              <a:ext cx="2651760" cy="2103120"/>
            </a:xfrm>
            <a:prstGeom prst="roundRect">
              <a:avLst>
                <a:gd name="adj" fmla="val 3478"/>
              </a:avLst>
            </a:prstGeom>
            <a:solidFill>
              <a:schemeClr val="bg2"/>
            </a:solidFill>
            <a:ln/>
          </p:spPr>
        </p:sp>
        <p:sp>
          <p:nvSpPr>
            <p:cNvPr id="47" name="s15_k7_r"/>
            <p:cNvSpPr txBox="1"/>
            <p:nvPr/>
          </p:nvSpPr>
          <p:spPr>
            <a:xfrm>
              <a:off x="9180576" y="3922776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chemeClr val="accent6"/>
                  </a:solidFill>
                </a:rPr>
                <a:t>Estoque projetado no fim da safra</a:t>
              </a:r>
              <a:endParaRPr lang="en-US" sz="1300" dirty="0"/>
            </a:p>
          </p:txBody>
        </p:sp>
        <p:sp>
          <p:nvSpPr>
            <p:cNvPr id="48" name="s15_k7_v"/>
            <p:cNvSpPr txBox="1"/>
            <p:nvPr/>
          </p:nvSpPr>
          <p:spPr>
            <a:xfrm>
              <a:off x="9180576" y="4453128"/>
              <a:ext cx="22860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chemeClr val="tx2"/>
                  </a:solidFill>
                </a:rPr>
                <a:t>+1.393 t</a:t>
              </a:r>
              <a:endParaRPr lang="en-US" sz="2800" dirty="0"/>
            </a:p>
          </p:txBody>
        </p:sp>
        <p:sp>
          <p:nvSpPr>
            <p:cNvPr id="49" name="s15_k7_s"/>
            <p:cNvSpPr txBox="1"/>
            <p:nvPr/>
          </p:nvSpPr>
          <p:spPr>
            <a:xfrm>
              <a:off x="9180576" y="4974336"/>
              <a:ext cx="2286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dirty="0">
                  <a:solidFill>
                    <a:schemeClr val="tx1"/>
                  </a:solidFill>
                </a:rPr>
                <a:t>de 46-00-00 (A); 16-00-20 zera após a compra</a:t>
              </a:r>
              <a:endParaRPr lang="en-US" sz="1100" dirty="0"/>
            </a:p>
          </p:txBody>
        </p:sp>
        <p:pic>
          <p:nvPicPr>
            <p:cNvPr id="50" name="s15_k7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80576" y="5458968"/>
              <a:ext cx="237744" cy="237744"/>
            </a:xfrm>
            <a:prstGeom prst="rect">
              <a:avLst/>
            </a:prstGeom>
          </p:spPr>
        </p:pic>
        <p:sp>
          <p:nvSpPr>
            <p:cNvPr id="51" name="s15_k7_st"/>
            <p:cNvSpPr txBox="1"/>
            <p:nvPr/>
          </p:nvSpPr>
          <p:spPr>
            <a:xfrm>
              <a:off x="9491472" y="544068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accent1"/>
                  </a:solidFill>
                </a:rPr>
                <a:t>mensurável hoje</a:t>
              </a:r>
              <a:endParaRPr lang="en-US" sz="1100" dirty="0"/>
            </a:p>
          </p:txBody>
        </p:sp>
      </p:grpSp>
      <p:sp>
        <p:nvSpPr>
          <p:cNvPr id="52" name="s15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LOC. 1.000ha e LOC. 450ha. Indicadores sem dado ficam com "—" até que a informação seja incorporada à planilha.</a:t>
            </a:r>
            <a:endParaRPr lang="en-US" sz="10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CONCLUSÕES E DECISÕES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Três decisões para fechar a adubação da safra</a:t>
            </a:r>
            <a:endParaRPr lang="en-US" sz="3000" dirty="0"/>
          </a:p>
        </p:txBody>
      </p:sp>
      <p:sp>
        <p:nvSpPr>
          <p:cNvPr id="4" name="s16_c_t"/>
          <p:cNvSpPr txBox="1"/>
          <p:nvPr/>
        </p:nvSpPr>
        <p:spPr>
          <a:xfrm>
            <a:off x="548640" y="14813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Conclusões</a:t>
            </a:r>
            <a:endParaRPr lang="en-US" sz="1600" dirty="0"/>
          </a:p>
        </p:txBody>
      </p:sp>
      <p:grpSp>
        <p:nvGrpSpPr>
          <p:cNvPr id="26" name="s16_c0">
            <a:extLst>
              <a:ext uri="{FF2B5EF4-FFF2-40B4-BE49-F238E27FC236}">
                <a16:creationId xmlns:a16="http://schemas.microsoft.com/office/drawing/2014/main" id="{BA706186-3C19-B164-6CBD-088BC1F80F50}"/>
              </a:ext>
            </a:extLst>
          </p:cNvPr>
          <p:cNvGrpSpPr/>
          <p:nvPr/>
        </p:nvGrpSpPr>
        <p:grpSpPr>
          <a:xfrm>
            <a:off x="548640" y="1938528"/>
            <a:ext cx="5504688" cy="822960"/>
            <a:chOff x="548640" y="1938528"/>
            <a:chExt cx="5504688" cy="822960"/>
          </a:xfrm>
        </p:grpSpPr>
        <p:pic>
          <p:nvPicPr>
            <p:cNvPr id="5" name="s16_c0_ic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975104"/>
              <a:ext cx="475488" cy="475488"/>
            </a:xfrm>
            <a:prstGeom prst="rect">
              <a:avLst/>
            </a:prstGeom>
          </p:spPr>
        </p:pic>
        <p:sp>
          <p:nvSpPr>
            <p:cNvPr id="6" name="s16_c0_t"/>
            <p:cNvSpPr txBox="1"/>
            <p:nvPr/>
          </p:nvSpPr>
          <p:spPr>
            <a:xfrm>
              <a:off x="1207008" y="1938528"/>
              <a:ext cx="4846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</a:rPr>
                <a:t>Restam 11.859 ha a adubar em 60 dias; 98% do volume é 16-00-20.</a:t>
              </a:r>
              <a:endParaRPr lang="en-US" sz="1600" dirty="0"/>
            </a:p>
          </p:txBody>
        </p:sp>
      </p:grpSp>
      <p:grpSp>
        <p:nvGrpSpPr>
          <p:cNvPr id="27" name="s16_c1">
            <a:extLst>
              <a:ext uri="{FF2B5EF4-FFF2-40B4-BE49-F238E27FC236}">
                <a16:creationId xmlns:a16="http://schemas.microsoft.com/office/drawing/2014/main" id="{972F4AE4-1D51-BDD0-E64E-AA6EA350CA22}"/>
              </a:ext>
            </a:extLst>
          </p:cNvPr>
          <p:cNvGrpSpPr/>
          <p:nvPr/>
        </p:nvGrpSpPr>
        <p:grpSpPr>
          <a:xfrm>
            <a:off x="548640" y="2871216"/>
            <a:ext cx="5504688" cy="822960"/>
            <a:chOff x="548640" y="2871216"/>
            <a:chExt cx="5504688" cy="822960"/>
          </a:xfrm>
        </p:grpSpPr>
        <p:pic>
          <p:nvPicPr>
            <p:cNvPr id="7" name="s16_c1_ic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907792"/>
              <a:ext cx="475488" cy="475488"/>
            </a:xfrm>
            <a:prstGeom prst="rect">
              <a:avLst/>
            </a:prstGeom>
          </p:spPr>
        </p:pic>
        <p:sp>
          <p:nvSpPr>
            <p:cNvPr id="8" name="s16_c1_t"/>
            <p:cNvSpPr txBox="1"/>
            <p:nvPr/>
          </p:nvSpPr>
          <p:spPr>
            <a:xfrm>
              <a:off x="1207008" y="2871216"/>
              <a:ext cx="4846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</a:rPr>
                <a:t>Estoque e compras cobrem 58% do 16-00-20: faltam 2.260 t (A) ou 2.544 t (B).</a:t>
              </a:r>
              <a:endParaRPr lang="en-US" sz="1600" dirty="0"/>
            </a:p>
          </p:txBody>
        </p:sp>
      </p:grpSp>
      <p:grpSp>
        <p:nvGrpSpPr>
          <p:cNvPr id="28" name="s16_c2">
            <a:extLst>
              <a:ext uri="{FF2B5EF4-FFF2-40B4-BE49-F238E27FC236}">
                <a16:creationId xmlns:a16="http://schemas.microsoft.com/office/drawing/2014/main" id="{869BCBA8-988A-A5DF-F8AD-3AF6056801E3}"/>
              </a:ext>
            </a:extLst>
          </p:cNvPr>
          <p:cNvGrpSpPr/>
          <p:nvPr/>
        </p:nvGrpSpPr>
        <p:grpSpPr>
          <a:xfrm>
            <a:off x="548640" y="3803904"/>
            <a:ext cx="5504688" cy="822960"/>
            <a:chOff x="548640" y="3803904"/>
            <a:chExt cx="5504688" cy="822960"/>
          </a:xfrm>
        </p:grpSpPr>
        <p:pic>
          <p:nvPicPr>
            <p:cNvPr id="9" name="s16_c2_ic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3840480"/>
              <a:ext cx="475488" cy="475488"/>
            </a:xfrm>
            <a:prstGeom prst="rect">
              <a:avLst/>
            </a:prstGeom>
          </p:spPr>
        </p:pic>
        <p:sp>
          <p:nvSpPr>
            <p:cNvPr id="10" name="s16_c2_t"/>
            <p:cNvSpPr txBox="1"/>
            <p:nvPr/>
          </p:nvSpPr>
          <p:spPr>
            <a:xfrm>
              <a:off x="1207008" y="3803904"/>
              <a:ext cx="4846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</a:rPr>
                <a:t>O 46-00-00 sobra 1.393–1.507 t e só tem uso com vinhaça ou com uma fonte de K.</a:t>
              </a:r>
              <a:endParaRPr lang="en-US" sz="1600" dirty="0"/>
            </a:p>
          </p:txBody>
        </p:sp>
      </p:grpSp>
      <p:grpSp>
        <p:nvGrpSpPr>
          <p:cNvPr id="29" name="s16_c3">
            <a:extLst>
              <a:ext uri="{FF2B5EF4-FFF2-40B4-BE49-F238E27FC236}">
                <a16:creationId xmlns:a16="http://schemas.microsoft.com/office/drawing/2014/main" id="{CEC01DF4-A81A-F2F9-B001-18E47EC74CA5}"/>
              </a:ext>
            </a:extLst>
          </p:cNvPr>
          <p:cNvGrpSpPr/>
          <p:nvPr/>
        </p:nvGrpSpPr>
        <p:grpSpPr>
          <a:xfrm>
            <a:off x="548640" y="4736592"/>
            <a:ext cx="5504688" cy="822960"/>
            <a:chOff x="548640" y="4736592"/>
            <a:chExt cx="5504688" cy="822960"/>
          </a:xfrm>
        </p:grpSpPr>
        <p:pic>
          <p:nvPicPr>
            <p:cNvPr id="11" name="s16_c3_ic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8640" y="4773168"/>
              <a:ext cx="475488" cy="475488"/>
            </a:xfrm>
            <a:prstGeom prst="rect">
              <a:avLst/>
            </a:prstGeom>
          </p:spPr>
        </p:pic>
        <p:sp>
          <p:nvSpPr>
            <p:cNvPr id="12" name="s16_c3_t"/>
            <p:cNvSpPr txBox="1"/>
            <p:nvPr/>
          </p:nvSpPr>
          <p:spPr>
            <a:xfrm>
              <a:off x="1207008" y="4736592"/>
              <a:ext cx="4846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dirty="0">
                  <a:solidFill>
                    <a:schemeClr val="bg1"/>
                  </a:solidFill>
                </a:rPr>
                <a:t>Sem preços e datas de entrega, orçamento e risco de ruptura seguem em aberto.</a:t>
              </a:r>
              <a:endParaRPr lang="en-US" sz="1600" dirty="0"/>
            </a:p>
          </p:txBody>
        </p:sp>
      </p:grpSp>
      <p:grpSp>
        <p:nvGrpSpPr>
          <p:cNvPr id="30" name="s16_decisoes">
            <a:extLst>
              <a:ext uri="{FF2B5EF4-FFF2-40B4-BE49-F238E27FC236}">
                <a16:creationId xmlns:a16="http://schemas.microsoft.com/office/drawing/2014/main" id="{AB59FE1F-CCDC-6F47-C940-43818414FC37}"/>
              </a:ext>
            </a:extLst>
          </p:cNvPr>
          <p:cNvGrpSpPr/>
          <p:nvPr/>
        </p:nvGrpSpPr>
        <p:grpSpPr>
          <a:xfrm>
            <a:off x="6446520" y="1481328"/>
            <a:ext cx="5193792" cy="4526280"/>
            <a:chOff x="6446520" y="1481328"/>
            <a:chExt cx="5193792" cy="4526280"/>
          </a:xfrm>
        </p:grpSpPr>
        <p:sp>
          <p:nvSpPr>
            <p:cNvPr id="13" name="s16_d_bg"/>
            <p:cNvSpPr/>
            <p:nvPr/>
          </p:nvSpPr>
          <p:spPr>
            <a:xfrm>
              <a:off x="6446520" y="1481328"/>
              <a:ext cx="5193792" cy="4526280"/>
            </a:xfrm>
            <a:prstGeom prst="roundRect">
              <a:avLst>
                <a:gd name="adj" fmla="val 1616"/>
              </a:avLst>
            </a:prstGeom>
            <a:solidFill>
              <a:srgbClr val="FFFFFF"/>
            </a:solidFill>
            <a:ln/>
          </p:spPr>
        </p:sp>
        <p:sp>
          <p:nvSpPr>
            <p:cNvPr id="14" name="s16_d_t"/>
            <p:cNvSpPr txBox="1"/>
            <p:nvPr/>
          </p:nvSpPr>
          <p:spPr>
            <a:xfrm>
              <a:off x="6720840" y="1664208"/>
              <a:ext cx="46634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chemeClr val="tx2"/>
                  </a:solidFill>
                </a:rPr>
                <a:t>Decisões prioritárias</a:t>
              </a:r>
              <a:endParaRPr lang="en-US" sz="1800" dirty="0"/>
            </a:p>
          </p:txBody>
        </p:sp>
        <p:sp>
          <p:nvSpPr>
            <p:cNvPr id="15" name="s16_d0_n"/>
            <p:cNvSpPr/>
            <p:nvPr/>
          </p:nvSpPr>
          <p:spPr>
            <a:xfrm>
              <a:off x="6720840" y="2249424"/>
              <a:ext cx="402336" cy="402336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6" name="s16_d0_nt"/>
            <p:cNvSpPr txBox="1"/>
            <p:nvPr/>
          </p:nvSpPr>
          <p:spPr>
            <a:xfrm>
              <a:off x="6720840" y="2249424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1</a:t>
              </a:r>
              <a:endParaRPr lang="en-US" sz="1600" dirty="0"/>
            </a:p>
          </p:txBody>
        </p:sp>
        <p:sp>
          <p:nvSpPr>
            <p:cNvPr id="17" name="s16_d0_tx"/>
            <p:cNvSpPr txBox="1"/>
            <p:nvPr/>
          </p:nvSpPr>
          <p:spPr>
            <a:xfrm>
              <a:off x="7269480" y="2212848"/>
              <a:ext cx="42062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Aprovar a compra de 16-00-20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2.260 t (A) ou 2.544 t (B), com entrega antes de ~20/11</a:t>
              </a:r>
              <a:endParaRPr lang="en-US" sz="1400" dirty="0"/>
            </a:p>
          </p:txBody>
        </p:sp>
        <p:sp>
          <p:nvSpPr>
            <p:cNvPr id="18" name="s16_d1_n"/>
            <p:cNvSpPr/>
            <p:nvPr/>
          </p:nvSpPr>
          <p:spPr>
            <a:xfrm>
              <a:off x="6720840" y="3273552"/>
              <a:ext cx="402336" cy="402336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19" name="s16_d1_nt"/>
            <p:cNvSpPr txBox="1"/>
            <p:nvPr/>
          </p:nvSpPr>
          <p:spPr>
            <a:xfrm>
              <a:off x="6720840" y="3273552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2</a:t>
              </a:r>
              <a:endParaRPr lang="en-US" sz="1600" dirty="0"/>
            </a:p>
          </p:txBody>
        </p:sp>
        <p:sp>
          <p:nvSpPr>
            <p:cNvPr id="20" name="s16_d1_tx"/>
            <p:cNvSpPr txBox="1"/>
            <p:nvPr/>
          </p:nvSpPr>
          <p:spPr>
            <a:xfrm>
              <a:off x="7269480" y="3236976"/>
              <a:ext cx="42062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Definir o destino do 46-00-00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reprogramar o que está a receber, guardar para a próxima safra ou usar com uma fonte de K</a:t>
              </a:r>
              <a:endParaRPr lang="en-US" sz="1400" dirty="0"/>
            </a:p>
          </p:txBody>
        </p:sp>
        <p:sp>
          <p:nvSpPr>
            <p:cNvPr id="21" name="s16_d2_n"/>
            <p:cNvSpPr/>
            <p:nvPr/>
          </p:nvSpPr>
          <p:spPr>
            <a:xfrm>
              <a:off x="6720840" y="4297680"/>
              <a:ext cx="402336" cy="402336"/>
            </a:xfrm>
            <a:prstGeom prst="ellipse">
              <a:avLst/>
            </a:prstGeom>
            <a:solidFill>
              <a:schemeClr val="accent1"/>
            </a:solidFill>
            <a:ln/>
          </p:spPr>
        </p:sp>
        <p:sp>
          <p:nvSpPr>
            <p:cNvPr id="22" name="s16_d2_nt"/>
            <p:cNvSpPr txBox="1"/>
            <p:nvPr/>
          </p:nvSpPr>
          <p:spPr>
            <a:xfrm>
              <a:off x="6720840" y="4297680"/>
              <a:ext cx="402336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3</a:t>
              </a:r>
              <a:endParaRPr lang="en-US" sz="1600" dirty="0"/>
            </a:p>
          </p:txBody>
        </p:sp>
        <p:sp>
          <p:nvSpPr>
            <p:cNvPr id="23" name="s16_d2_tx"/>
            <p:cNvSpPr txBox="1"/>
            <p:nvPr/>
          </p:nvSpPr>
          <p:spPr>
            <a:xfrm>
              <a:off x="7269480" y="4261104"/>
              <a:ext cx="42062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chemeClr val="tx2"/>
                  </a:solidFill>
                </a:rPr>
                <a:t>Cobrar cronograma e preços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300" dirty="0">
                  <a:solidFill>
                    <a:schemeClr val="tx1"/>
                  </a:solidFill>
                </a:rPr>
                <a:t>datas das 3.180 t compradas e cotações para fechar o orçamento</a:t>
              </a:r>
              <a:endParaRPr lang="en-US" sz="1400" dirty="0"/>
            </a:p>
          </p:txBody>
        </p:sp>
        <p:sp>
          <p:nvSpPr>
            <p:cNvPr id="24" name="s16_prox"/>
            <p:cNvSpPr txBox="1"/>
            <p:nvPr/>
          </p:nvSpPr>
          <p:spPr>
            <a:xfrm>
              <a:off x="6720840" y="5321808"/>
              <a:ext cx="47548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accent6"/>
                  </a:solidFill>
                </a:rPr>
                <a:t>Próximos passos: validar a base → escolher o cenário → cotar e comprar → programar entregas → painel semanal</a:t>
              </a:r>
              <a:endParaRPr lang="en-US" sz="12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A9C9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2918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ANEXO · QUALIDADE DA BASE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03504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Premissas e pontos a corrigir na planilha</a:t>
            </a:r>
            <a:endParaRPr lang="en-US" sz="3000" dirty="0"/>
          </a:p>
        </p:txBody>
      </p:sp>
      <p:graphicFrame>
        <p:nvGraphicFramePr>
          <p:cNvPr id="18" name="s17_ta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3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Onde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Achado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Efeito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Ambas · linhas 26–29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Quadro de vinhaça localizada não fecha: total 8.517,09 ha × 6.081,74 ha nas linhas; B27+B28 (5.328,37) ≠ B22 (5.795,19).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Não muda a necessidade; impede conciliar o consumo realizado.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LOC. 450ha · H38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Valor 0 digitado; na aba A é =C14−H36 (que daria −446,63 ha neste cenário).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Não se atualiza se os dias de K mudarem.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Ambas · D38 e H36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Constantes digitadas (11.593 + 9.354 + 8.779; 1.200) sem referência de origem.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Perde rastreabilidade por área.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Ambas · K58 × K60:K61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Oxyfertil (142,19 t) fora dos subtotais de socaria e de plantio.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Estoque sem destino definido.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Ambas · I49:J58 × B50:F51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21-00-00, 13-00-34, 25-00-00 e Oxyfertil estão em estoque, mas fora do balanço.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Saldo considera só 16-00-20 e 46-00-00.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Ambas · nota A42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Plantio de 2.400 ha (1.400 fundação + 1.000 renovação) sem necessidade calculada.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Possível compra adicional de fórmulas de plantio.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Planilha inteira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Sem preços, datas de entrega, prazo de fornecimento, demanda mensal e ritmo da adubação mineral.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Orçamento e curva real não são calculáveis.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Rótulos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'16-00-20.' e '16-00-20' (idem 46-00-00); grafias 'Fertlizante' e 'Rítmo'.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B25"/>
                          </a:solidFill>
                        </a:rPr>
                        <a:t>Pode quebrar consolidações por produto.</a:t>
                      </a:r>
                      <a:endParaRPr lang="en-US" sz="11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17_prem"/>
          <p:cNvSpPr txBox="1"/>
          <p:nvPr/>
        </p:nvSpPr>
        <p:spPr>
          <a:xfrm>
            <a:off x="548640" y="5513832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Premissas desta apresentação: cenários = abas da planilha; nutrientes pela garantia da fórmula; curva de abastecimento com aplicação uniforme até 15/12 (ilustrativa); sensibilidade por dia com a lógica da aba A; nenhum preço assumido. 85 fórmulas e totais da planilha conferidos sem divergência.</a:t>
            </a:r>
            <a:endParaRPr lang="en-US" sz="1100" dirty="0"/>
          </a:p>
        </p:txBody>
      </p:sp>
      <p:sp>
        <p:nvSpPr>
          <p:cNvPr id="6" name="s17_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Fonte: Necessidade Fertilizante OUT 2026.xlsx — abas LOC. 1.000ha e LOC. 450ha. Lista completa em README.md e na aba Inconsistências da planilha auxiliar.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994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Fertilizantes CRV">
  <a:themeElements>
    <a:clrScheme name="Fertilizantes CRV">
      <a:dk1>
        <a:srgbClr val="1E2B25"/>
      </a:dk1>
      <a:lt1>
        <a:srgbClr val="FFFFFF"/>
      </a:lt1>
      <a:dk2>
        <a:srgbClr val="0E3B2C"/>
      </a:dk2>
      <a:lt2>
        <a:srgbClr val="EEF3EA"/>
      </a:lt2>
      <a:accent1>
        <a:srgbClr val="1F6B3A"/>
      </a:accent1>
      <a:accent2>
        <a:srgbClr val="8DBE3F"/>
      </a:accent2>
      <a:accent3>
        <a:srgbClr val="D9A21B"/>
      </a:accent3>
      <a:accent4>
        <a:srgbClr val="B3402E"/>
      </a:accent4>
      <a:accent5>
        <a:srgbClr val="7A5230"/>
      </a:accent5>
      <a:accent6>
        <a:srgbClr val="66736D"/>
      </a:accent6>
      <a:hlink>
        <a:srgbClr val="1F6B3A"/>
      </a:hlink>
      <a:folHlink>
        <a:srgbClr val="66736D"/>
      </a:folHlink>
    </a:clrScheme>
    <a:fontScheme name="Fertilizantes CRV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4734</Words>
  <Application>Microsoft Office PowerPoint</Application>
  <PresentationFormat>Widescreen</PresentationFormat>
  <Paragraphs>448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Fertilizantes CRV</vt:lpstr>
      <vt:lpstr>Planejamento de Necessidade de Fertilizantes</vt:lpstr>
      <vt:lpstr>Faltam 2.260 t de 16-00-20 para fechar a safra</vt:lpstr>
      <vt:lpstr>11.859 ha ainda precisam de adubação nesta safra</vt:lpstr>
      <vt:lpstr>16-00-20 responde por 98% da necessidade restante</vt:lpstr>
      <vt:lpstr>Adubação mineral cobre 91% a 96% da área restante</vt:lpstr>
      <vt:lpstr>Cada hectare com vinhaça poupa 500 kg de 16-00-20</vt:lpstr>
      <vt:lpstr>Toda a demanda restante cai em 60 dias de safra</vt:lpstr>
      <vt:lpstr>16-00-20 disponível se esgota por volta de 20/11</vt:lpstr>
      <vt:lpstr>Estoque de 2.600 t: 62% em fórmulas de socaria</vt:lpstr>
      <vt:lpstr>Estoque e compras cobrem 58% do 16-00-20 necessário</vt:lpstr>
      <vt:lpstr>Cada R$ 100/t no 16-00-20 vale R$ 226 mil</vt:lpstr>
      <vt:lpstr>Cada dia de vinhaça com K poupa 25 t de 16-00-20</vt:lpstr>
      <vt:lpstr>Ruptura de 16-00-20 é o principal risco da safra</vt:lpstr>
      <vt:lpstr>Seis frentes para fechar o abastecimento da safra</vt:lpstr>
      <vt:lpstr>5 de 8 indicadores já podem ser medidos</vt:lpstr>
      <vt:lpstr>Três decisões para fechar a adubação da safra</vt:lpstr>
      <vt:lpstr>Premissas e pontos a corrigir na planilha</vt:lpstr>
    </vt:vector>
  </TitlesOfParts>
  <Company>Usina CRV Industrial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de Necessidade de Fertilizantes</dc:title>
  <dc:subject>Necessidade de fertilizantes, estoque, compras e cenários — posição 16/10/2026</dc:subject>
  <dc:creator>Departamento Agrícola</dc:creator>
  <cp:lastModifiedBy>CLOVES RODRIGUES DE OLIVEIRA JUNIOR</cp:lastModifiedBy>
  <cp:revision>2</cp:revision>
  <dcterms:created xsi:type="dcterms:W3CDTF">2026-10-16T19:06:53Z</dcterms:created>
  <dcterms:modified xsi:type="dcterms:W3CDTF">2026-10-16T19:07:02Z</dcterms:modified>
</cp:coreProperties>
</file>